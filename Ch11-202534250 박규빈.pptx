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2"/>
  </p:notesMasterIdLst>
  <p:sldIdLst>
    <p:sldId id="256" r:id="rId2"/>
    <p:sldId id="332" r:id="rId3"/>
    <p:sldId id="328" r:id="rId4"/>
    <p:sldId id="329" r:id="rId5"/>
    <p:sldId id="330" r:id="rId6"/>
    <p:sldId id="326" r:id="rId7"/>
    <p:sldId id="333" r:id="rId8"/>
    <p:sldId id="334" r:id="rId9"/>
    <p:sldId id="335" r:id="rId10"/>
    <p:sldId id="336" r:id="rId11"/>
    <p:sldId id="337" r:id="rId12"/>
    <p:sldId id="338" r:id="rId13"/>
    <p:sldId id="341" r:id="rId14"/>
    <p:sldId id="342" r:id="rId15"/>
    <p:sldId id="343" r:id="rId16"/>
    <p:sldId id="347" r:id="rId17"/>
    <p:sldId id="344" r:id="rId18"/>
    <p:sldId id="340" r:id="rId19"/>
    <p:sldId id="345" r:id="rId20"/>
    <p:sldId id="346" r:id="rId21"/>
    <p:sldId id="352" r:id="rId22"/>
    <p:sldId id="348" r:id="rId23"/>
    <p:sldId id="349" r:id="rId24"/>
    <p:sldId id="350" r:id="rId25"/>
    <p:sldId id="339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1" r:id="rId34"/>
    <p:sldId id="360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71" r:id="rId43"/>
    <p:sldId id="374" r:id="rId44"/>
    <p:sldId id="369" r:id="rId45"/>
    <p:sldId id="372" r:id="rId46"/>
    <p:sldId id="381" r:id="rId47"/>
    <p:sldId id="373" r:id="rId48"/>
    <p:sldId id="375" r:id="rId49"/>
    <p:sldId id="376" r:id="rId50"/>
    <p:sldId id="377" r:id="rId51"/>
    <p:sldId id="378" r:id="rId52"/>
    <p:sldId id="379" r:id="rId53"/>
    <p:sldId id="380" r:id="rId54"/>
    <p:sldId id="388" r:id="rId55"/>
    <p:sldId id="382" r:id="rId56"/>
    <p:sldId id="383" r:id="rId57"/>
    <p:sldId id="384" r:id="rId58"/>
    <p:sldId id="385" r:id="rId59"/>
    <p:sldId id="386" r:id="rId60"/>
    <p:sldId id="389" r:id="rId61"/>
    <p:sldId id="370" r:id="rId62"/>
    <p:sldId id="387" r:id="rId63"/>
    <p:sldId id="390" r:id="rId64"/>
    <p:sldId id="391" r:id="rId65"/>
    <p:sldId id="392" r:id="rId66"/>
    <p:sldId id="393" r:id="rId67"/>
    <p:sldId id="394" r:id="rId68"/>
    <p:sldId id="395" r:id="rId69"/>
    <p:sldId id="396" r:id="rId70"/>
    <p:sldId id="397" r:id="rId7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355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3EBD6-202B-2414-90A5-2100BF0D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FC9D6B-6666-308C-A40A-3C4C9CF79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4E8B3B-72A3-FFAD-9611-ABC269BAB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68C289-903C-EA59-299D-C3FBD5861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610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7F8C8-67C1-96EB-45BF-4338D867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0C6DA2-F2EE-C36A-A7FA-92736F81B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2FA764-2CFF-43F2-DBD6-7FCA368F5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1A783A-BA28-C274-B39F-77F84B277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144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ED05E-AF5A-8F43-0C7D-1569BB420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39B0F3-D63F-B240-A423-0DAC5E1AB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C366F5-760C-37BE-A90D-4944A24BD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1AC54-3B48-023C-ED3A-B8798FBC0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458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637E-82D6-4563-BCF0-C9101F2B5148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D677-7AD2-4A27-94BD-C65458D22428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5C70B-7871-D2F3-E49B-85D4BEBA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Modern Cryptography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4BB57-D4CA-4972-9722-922AA1C02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Discrete logarithms and RSA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27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DB61-F834-D9E7-299E-9100B8F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B7391-F7A8-A8BC-5886-8BCC92C8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Discrete logarithms and RSA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2A060-71A6-5EA2-F906-1524933F5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/>
              <a:t>Discrete Logarithms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DL and CDH Games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Finding Cyclic Groups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RSA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AA46B-FCCE-8A34-657F-EEC8E88D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71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BAC0-701A-C2B8-D9FA-D2931F875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0673E4-37C5-F955-2F11-4A678A74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548AA-2AAA-063A-2124-EF54D27FB482}"/>
              </a:ext>
            </a:extLst>
          </p:cNvPr>
          <p:cNvSpPr txBox="1"/>
          <p:nvPr/>
        </p:nvSpPr>
        <p:spPr>
          <a:xfrm>
            <a:off x="838199" y="3248344"/>
            <a:ext cx="10515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dirty="0"/>
              <a:t>Discrete Logarithms</a:t>
            </a:r>
            <a:endParaRPr lang="ko-KR" altLang="en-US" sz="400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367D418-358F-5D27-2B09-956D1AD2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Discrete Logarithms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67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D216B-331D-F33B-2160-65776A9E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Discrete Logarithms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775769-3317-CC88-73A7-84A7BE279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Logarithm (</a:t>
            </a:r>
            <a:r>
              <a:rPr lang="ko-KR" altLang="en-US" dirty="0"/>
              <a:t>로그</a:t>
            </a:r>
            <a:r>
              <a:rPr lang="en-US" altLang="ko-KR" dirty="0"/>
              <a:t>): 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일반적인 수학에서 로그는 지수화</a:t>
            </a:r>
            <a:r>
              <a:rPr lang="en-US" altLang="ko-KR" dirty="0"/>
              <a:t>(Exponentiation) </a:t>
            </a:r>
            <a:r>
              <a:rPr lang="ko-KR" altLang="en-US" dirty="0"/>
              <a:t>연산을 거꾸로 되돌리는 역산 함수이다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Discrete (</a:t>
            </a:r>
            <a:r>
              <a:rPr lang="ko-KR" altLang="en-US" dirty="0"/>
              <a:t>이산적</a:t>
            </a:r>
            <a:r>
              <a:rPr lang="en-US" altLang="ko-KR" dirty="0"/>
              <a:t>):  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암호학에서는 실수 범위가 아닌</a:t>
            </a:r>
            <a:r>
              <a:rPr lang="en-US" altLang="ko-KR" dirty="0"/>
              <a:t>, </a:t>
            </a:r>
            <a:r>
              <a:rPr lang="ko-KR" altLang="en-US" dirty="0"/>
              <a:t>유한한 개수의 원소만 존재하는 </a:t>
            </a:r>
            <a:r>
              <a:rPr lang="en-US" altLang="ko-KR" dirty="0"/>
              <a:t>‘</a:t>
            </a:r>
            <a:r>
              <a:rPr lang="ko-KR" altLang="en-US" dirty="0"/>
              <a:t>군</a:t>
            </a:r>
            <a:r>
              <a:rPr lang="en-US" altLang="ko-KR" dirty="0"/>
              <a:t>(Group)’</a:t>
            </a:r>
            <a:r>
              <a:rPr lang="ko-KR" altLang="en-US" dirty="0"/>
              <a:t> 내부에서만 연산이 이루어진다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숫자들이 소수 </a:t>
            </a:r>
            <a:r>
              <a:rPr lang="en-US" altLang="ko-KR" dirty="0"/>
              <a:t>p</a:t>
            </a:r>
            <a:r>
              <a:rPr lang="ko-KR" altLang="en-US" dirty="0"/>
              <a:t>를 법</a:t>
            </a:r>
            <a:r>
              <a:rPr lang="en-US" altLang="ko-KR" dirty="0"/>
              <a:t>(mod)</a:t>
            </a:r>
            <a:r>
              <a:rPr lang="ko-KR" altLang="en-US" dirty="0"/>
              <a:t>으로 하여 불연속적으로 끊어져 존재하기 때문에 </a:t>
            </a:r>
            <a:r>
              <a:rPr lang="en-US" altLang="ko-KR" dirty="0"/>
              <a:t>‘</a:t>
            </a:r>
            <a:r>
              <a:rPr lang="ko-KR" altLang="en-US" dirty="0"/>
              <a:t>이산</a:t>
            </a:r>
            <a:r>
              <a:rPr lang="en-US" altLang="ko-KR" dirty="0"/>
              <a:t>(Discrete)’</a:t>
            </a:r>
            <a:r>
              <a:rPr lang="ko-KR" altLang="en-US" dirty="0"/>
              <a:t>이라는 수식어가 붙는다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9E18C6-F4A4-FE8A-1A01-F77A9CD39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778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AACCA-2D16-3D33-8A31-853CE206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7245-DC5C-3A55-6AC3-390B6FCB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Discrete Logarithms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96448A-91E0-12D5-0F7B-25E17285B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2218"/>
            <a:ext cx="10515600" cy="34843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암호학적 중요성</a:t>
            </a:r>
            <a:r>
              <a:rPr lang="en-US" altLang="ko-KR" dirty="0"/>
              <a:t>: 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실수 체계의 로그와 달리</a:t>
            </a:r>
            <a:r>
              <a:rPr lang="en-US" altLang="ko-KR" dirty="0"/>
              <a:t>, </a:t>
            </a:r>
            <a:r>
              <a:rPr lang="ko-KR" altLang="en-US" dirty="0"/>
              <a:t>이산적인 군 내부에서는 지수 연산이 매우 빠르지만 그 역산인 이산 로그를 구하는 것은 극도로 어렵다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이러한 </a:t>
            </a:r>
            <a:r>
              <a:rPr lang="en-US" altLang="ko-KR" dirty="0"/>
              <a:t>‘</a:t>
            </a:r>
            <a:r>
              <a:rPr lang="ko-KR" altLang="en-US" dirty="0"/>
              <a:t>일방향성</a:t>
            </a:r>
            <a:r>
              <a:rPr lang="en-US" altLang="ko-KR" dirty="0"/>
              <a:t>(One-</a:t>
            </a:r>
            <a:r>
              <a:rPr lang="en-US" altLang="ko-KR" dirty="0" err="1"/>
              <a:t>wayness</a:t>
            </a:r>
            <a:r>
              <a:rPr lang="en-US" altLang="ko-KR" dirty="0"/>
              <a:t>)’</a:t>
            </a:r>
            <a:r>
              <a:rPr lang="ko-KR" altLang="en-US" dirty="0"/>
              <a:t>이 현대 암호학적 안전성의 기반이 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D58992-3D8D-36F9-7AF4-C11F3935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81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AA266-5FAC-54C2-F89B-F6B730C4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4D545F5-B14A-2DD5-F837-B68A90C9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Discrete Logarithms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507AAB-4316-FC72-99BB-B7792D20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1C9D7-7C57-EB0F-EC5E-8DC9FEF24A2E}"/>
              </a:ext>
            </a:extLst>
          </p:cNvPr>
          <p:cNvSpPr txBox="1"/>
          <p:nvPr/>
        </p:nvSpPr>
        <p:spPr>
          <a:xfrm>
            <a:off x="838199" y="3248344"/>
            <a:ext cx="10515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dirty="0"/>
              <a:t>Mathematical Definition of DLP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76129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736A-F525-0E3E-64EF-A2C4D8D49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A174EE-B940-E5D1-B0D1-9FD02343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Mathematical Definition of DLP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AD6A32-6EE7-252F-25B8-163184D6F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7979"/>
            <a:ext cx="10515600" cy="38989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Background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특정 원소 </a:t>
            </a:r>
            <a:r>
              <a:rPr lang="en-US" altLang="ko-KR" dirty="0"/>
              <a:t>g</a:t>
            </a:r>
            <a:r>
              <a:rPr lang="ko-KR" altLang="en-US" dirty="0"/>
              <a:t>를 거듭제곱하여 전체 공간을 빠짐없이 생성할 수 있을 때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en-US" altLang="ko-KR" dirty="0"/>
              <a:t>g</a:t>
            </a:r>
            <a:r>
              <a:rPr lang="ko-KR" altLang="en-US" dirty="0"/>
              <a:t>를 </a:t>
            </a:r>
            <a:r>
              <a:rPr lang="en-US" altLang="ko-KR" dirty="0"/>
              <a:t>Generator</a:t>
            </a:r>
            <a:r>
              <a:rPr lang="ko-KR" altLang="en-US" dirty="0"/>
              <a:t>라고 정의하며 이러한 군을 </a:t>
            </a:r>
            <a:r>
              <a:rPr lang="en-US" altLang="ko-KR" dirty="0"/>
              <a:t>Cyclic Group</a:t>
            </a:r>
            <a:r>
              <a:rPr lang="ko-KR" altLang="en-US" dirty="0"/>
              <a:t>이라 한다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이산 로그는 이 </a:t>
            </a:r>
            <a:r>
              <a:rPr lang="en-US" altLang="ko-KR" dirty="0"/>
              <a:t>Cyclic Group</a:t>
            </a:r>
            <a:r>
              <a:rPr lang="ko-KR" altLang="en-US" dirty="0"/>
              <a:t>의 특성을 역으로 이용한 대수학적 함수이다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BAE357-319C-83D4-793C-673AED81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18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C172C-2086-0E3E-73C6-78975B30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Mathematical Definition of DLP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2C55D-1936-CB01-24D7-5461F4BE2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Definition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57EE49-7EC9-B595-E6B2-F4D48719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172DC4-9A62-0423-D6B7-2722098DE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648" y="2412394"/>
            <a:ext cx="9846703" cy="376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8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52CF-16D6-8E8B-D763-B4BE2B7E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FD490-1D15-1A60-70E1-C2D1BC6F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Mathematical Definition of DLP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D7E6BC-A6D5-5585-BF4D-15A5FBE3C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199"/>
            <a:ext cx="10515600" cy="34337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대수학적으로 이산 로그 함수는 지수화 함수의 완벽한 역함수로 작동한다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따라서 다음 두가지의 항등식이 항상 성립한다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2EAE0F-860F-16DE-12EA-F2007CE8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8CDBE1-9069-3A75-AC51-08050A8C6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575" y="4405335"/>
            <a:ext cx="5428850" cy="124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57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1B460-F51B-C3E7-AF06-EC357D46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177DA-F543-0D12-9433-647B2F77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Mathematical Definition of DLP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46E2B0-21BE-CF03-F7BF-C3BBEFA5C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Ex: </a:t>
            </a:r>
            <a:r>
              <a:rPr lang="ko-KR" altLang="en-US" dirty="0" err="1"/>
              <a:t>모듈러</a:t>
            </a:r>
            <a:r>
              <a:rPr lang="ko-KR" altLang="en-US" dirty="0"/>
              <a:t> </a:t>
            </a:r>
            <a:r>
              <a:rPr lang="en-US" altLang="ko-KR" dirty="0"/>
              <a:t>11 </a:t>
            </a:r>
            <a:r>
              <a:rPr lang="ko-KR" altLang="en-US" dirty="0"/>
              <a:t>환경에서의 이산 로그 역산 전개</a:t>
            </a:r>
            <a:r>
              <a:rPr lang="en-US" altLang="ko-KR" dirty="0"/>
              <a:t>: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A3E895-D635-B5B0-8152-4254C489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90752547-6CD4-56B1-825F-4198ECD83A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3878CB-D2E2-9C17-596C-0F69BB40A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084" y="2712215"/>
            <a:ext cx="7659832" cy="244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72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C4A6B-DAD9-9DE0-9C8F-BEEB59E5B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6CFD9-89E0-89DD-102F-8AED7BDBE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Mathematical Definition of DLP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48AC41-737C-5128-25CF-76C241239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747"/>
            <a:ext cx="10515600" cy="47492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역산 계산</a:t>
            </a:r>
            <a:r>
              <a:rPr lang="en-US" altLang="ko-KR" sz="2400" dirty="0"/>
              <a:t>: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5E8A09-06CE-9FC8-2BEF-E30EA4A9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9873C95C-2729-2887-93C1-98DC03BDE1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D766E5-DBAF-4118-D213-E34CE3568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929" y="2168672"/>
            <a:ext cx="8795342" cy="447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53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5EFB5-3009-33B6-4A2B-953615E9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89B52-8182-BA1A-05F4-4912966CB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Mathematical Definition of DLP</a:t>
            </a:r>
            <a:endParaRPr lang="ko-KR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D1176E1-9798-03DF-8CBC-1170693AD7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82779"/>
                <a:ext cx="10515600" cy="359418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이러한 </a:t>
                </a:r>
                <a:r>
                  <a:rPr lang="ko-KR" altLang="en-US" sz="2400" dirty="0" err="1"/>
                  <a:t>모듈러</a:t>
                </a:r>
                <a:r>
                  <a:rPr lang="ko-KR" altLang="en-US" sz="2400" dirty="0"/>
                  <a:t> 지수 연산을 수행하면 결과값 </a:t>
                </a:r>
                <a:r>
                  <a:rPr lang="en-US" altLang="ko-KR" sz="2400" dirty="0"/>
                  <a:t>a </a:t>
                </a:r>
                <a14:m>
                  <m:oMath xmlns:m="http://schemas.openxmlformats.org/officeDocument/2006/math">
                    <m:r>
                      <a:rPr lang="ko-KR" altLang="en-US" sz="24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ko-KR" sz="2400" dirty="0"/>
                  <a:t> {1, 2, …, 10} </a:t>
                </a:r>
                <a:r>
                  <a:rPr lang="ko-KR" altLang="en-US" sz="2400" dirty="0"/>
                  <a:t>전체가 지수 </a:t>
                </a:r>
                <a:r>
                  <a:rPr lang="en-US" altLang="ko-KR" sz="2400" dirty="0" err="1"/>
                  <a:t>i</a:t>
                </a:r>
                <a:r>
                  <a:rPr lang="en-US" altLang="ko-KR" sz="2400" dirty="0"/>
                  <a:t> </a:t>
                </a:r>
                <a14:m>
                  <m:oMath xmlns:m="http://schemas.openxmlformats.org/officeDocument/2006/math">
                    <m:r>
                      <a:rPr lang="ko-KR" altLang="en-US" sz="24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,  …, </m:t>
                        </m:r>
                        <m: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en-US" altLang="ko-KR" sz="2400" dirty="0"/>
                  <a:t> </a:t>
                </a:r>
                <a:r>
                  <a:rPr lang="ko-KR" altLang="en-US" sz="2400" dirty="0"/>
                  <a:t>중복 없이 완벽하게 </a:t>
                </a:r>
                <a:r>
                  <a:rPr lang="en-US" altLang="ko-KR" sz="2400" dirty="0"/>
                  <a:t>1:1</a:t>
                </a:r>
                <a:r>
                  <a:rPr lang="ko-KR" altLang="en-US" sz="2400" dirty="0"/>
                  <a:t>로</a:t>
                </a:r>
                <a:r>
                  <a:rPr lang="en-US" altLang="ko-KR" sz="2400" dirty="0"/>
                  <a:t> </a:t>
                </a:r>
                <a:r>
                  <a:rPr lang="ko-KR" altLang="en-US" sz="2400" dirty="0"/>
                  <a:t>대응됨을 확인할 수 있다</a:t>
                </a:r>
                <a:r>
                  <a:rPr lang="en-US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하지만 숫자가 커지면</a:t>
                </a:r>
                <a:r>
                  <a:rPr lang="en-US" altLang="ko-KR" sz="2400" dirty="0"/>
                  <a:t>, a</a:t>
                </a:r>
                <a:r>
                  <a:rPr lang="ko-KR" altLang="en-US" sz="2400" dirty="0"/>
                  <a:t>만 보고 </a:t>
                </a:r>
                <a:r>
                  <a:rPr lang="en-US" altLang="ko-KR" sz="2400" dirty="0" err="1"/>
                  <a:t>i</a:t>
                </a:r>
                <a:r>
                  <a:rPr lang="ko-KR" altLang="en-US" sz="2400" dirty="0"/>
                  <a:t>를 찾는 것은 불가능에 가깝다</a:t>
                </a:r>
                <a:r>
                  <a:rPr lang="en-US" altLang="ko-KR" sz="2400" dirty="0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D1176E1-9798-03DF-8CBC-1170693AD7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82779"/>
                <a:ext cx="10515600" cy="3594183"/>
              </a:xfrm>
              <a:blipFill>
                <a:blip r:embed="rId2"/>
                <a:stretch>
                  <a:fillRect l="-812" r="-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DD6489-1EC8-4F49-6A8B-E5339441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CC1554D6-CDCE-08D4-1ED1-1121D2AE6B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708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41F6B-5226-F943-C928-718076E3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B04738-346D-A8FC-A2CB-02483A3F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Mathematical Definition of DLP</a:t>
            </a:r>
            <a:endParaRPr lang="ko-KR" altLang="en-US" sz="2800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22920F9-40E3-EA42-D04A-C7B8A12A0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9291"/>
            <a:ext cx="10161298" cy="27200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B59007-0B36-8657-5AEA-B0E3020C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EF4639FE-175E-ED51-ECF1-E62771EE40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670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7A7AC-D099-8239-AECF-8A603679C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639CF-D9B0-0834-EB91-1691857FA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Mathematical Definition of DLP</a:t>
            </a:r>
            <a:endParaRPr lang="ko-KR" altLang="en-US" sz="2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D3D111-B005-2798-11C8-26F8AD73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0FAC81C3-40CD-BC81-9F8F-0F26D6F95B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1A326989-9FEE-CDD0-E62F-952F192A9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6976" y="2161359"/>
            <a:ext cx="6413247" cy="37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19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223C7-A865-6BB5-E9FA-593580CDC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6093E-2DAA-A2F9-49E0-64964AA2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Mathematical Definition of DLP</a:t>
            </a:r>
            <a:endParaRPr lang="ko-KR" altLang="en-US" sz="2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A2498-D8F1-23FF-089A-ED05CBEC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7638D79B-B358-8C18-F86A-31D61C65AA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07FCB8-46AB-E3B5-2DD1-E2FB37FB2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탐색 공간 내에 반드시 정답이 존재하므로 수학적으로 항상 올바른 해를 반환한다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하지만 루프를 </a:t>
            </a:r>
            <a:r>
              <a:rPr lang="en-US" altLang="ko-KR" sz="2400" dirty="0"/>
              <a:t>1</a:t>
            </a:r>
            <a:r>
              <a:rPr lang="ko-KR" altLang="en-US" sz="2400" dirty="0"/>
              <a:t>회 수행할 때마다 지수화 연산이 요구되며</a:t>
            </a:r>
            <a:r>
              <a:rPr lang="en-US" altLang="ko-KR" sz="2400" dirty="0"/>
              <a:t>, </a:t>
            </a:r>
            <a:r>
              <a:rPr lang="ko-KR" altLang="en-US" sz="2400" dirty="0"/>
              <a:t>최악의 경우 군의 위수 </a:t>
            </a:r>
            <a:r>
              <a:rPr lang="en-US" altLang="ko-KR" sz="2400" dirty="0"/>
              <a:t>m</a:t>
            </a:r>
            <a:r>
              <a:rPr lang="ko-KR" altLang="en-US" sz="2400" dirty="0"/>
              <a:t>번만큼 연산을 반복해야 하므로 시간 복잡도는 </a:t>
            </a:r>
            <a:r>
              <a:rPr lang="en-US" altLang="ko-KR" sz="2400" dirty="0"/>
              <a:t>O(m)</a:t>
            </a:r>
            <a:r>
              <a:rPr lang="ko-KR" altLang="en-US" sz="2400" dirty="0"/>
              <a:t>이 된다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암호학에서 </a:t>
            </a:r>
            <a:r>
              <a:rPr lang="ko-KR" altLang="en-US" sz="2400" dirty="0" err="1"/>
              <a:t>입력값의</a:t>
            </a:r>
            <a:r>
              <a:rPr lang="ko-KR" altLang="en-US" sz="2400" dirty="0"/>
              <a:t> 크기는 정수 자체가 아니라 이진수 인코딩의 비트 길이인 </a:t>
            </a:r>
            <a:r>
              <a:rPr lang="en-US" altLang="ko-KR" sz="2400" dirty="0"/>
              <a:t>|p|</a:t>
            </a:r>
            <a:r>
              <a:rPr lang="ko-KR" altLang="en-US" sz="2400" dirty="0"/>
              <a:t>로 측정되므로</a:t>
            </a:r>
            <a:r>
              <a:rPr lang="en-US" altLang="ko-KR" sz="2400" dirty="0"/>
              <a:t>, </a:t>
            </a:r>
            <a:r>
              <a:rPr lang="ko-KR" altLang="en-US" sz="2400" dirty="0"/>
              <a:t>이 복잡도는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D9A1D80-1D6C-1151-7CC9-35F41329F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935537"/>
            <a:ext cx="2066697" cy="39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35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5BA46-AE92-C4D7-59D3-B4F20D5D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CD999BF-AFE6-2079-7718-23C9C8DF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Discrete Logarithms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BD490BD-A3FD-13E7-3BF4-0D78DCFA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7BF3CC-1633-6925-0C35-BCFAEBF5A388}"/>
                  </a:ext>
                </a:extLst>
              </p:cNvPr>
              <p:cNvSpPr txBox="1"/>
              <p:nvPr/>
            </p:nvSpPr>
            <p:spPr>
              <a:xfrm>
                <a:off x="838199" y="3248344"/>
                <a:ext cx="10515599" cy="755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4000" dirty="0"/>
                  <a:t>Computing </a:t>
                </a:r>
                <a:r>
                  <a:rPr lang="en-US" altLang="ko-KR" sz="4000" dirty="0" err="1"/>
                  <a:t>DLog</a:t>
                </a:r>
                <a:r>
                  <a:rPr lang="en-US" altLang="ko-KR" sz="4000" dirty="0"/>
                  <a:t>: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4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4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40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ar-AE" altLang="ko-KR" sz="4000" dirty="0"/>
                  <a:t> </a:t>
                </a:r>
                <a:r>
                  <a:rPr lang="en-US" altLang="ko-KR" sz="4000" dirty="0"/>
                  <a:t>vs </a:t>
                </a:r>
                <a14:m>
                  <m:oMath xmlns:m="http://schemas.openxmlformats.org/officeDocument/2006/math">
                    <m:r>
                      <a:rPr lang="ko-KR" altLang="en-US" sz="4000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4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ar-AE" sz="4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ar-AE" altLang="ko-KR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7BF3CC-1633-6925-0C35-BCFAEBF5A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248344"/>
                <a:ext cx="10515599" cy="755463"/>
              </a:xfrm>
              <a:prstGeom prst="rect">
                <a:avLst/>
              </a:prstGeom>
              <a:blipFill>
                <a:blip r:embed="rId2"/>
                <a:stretch>
                  <a:fillRect t="-16129" b="-266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869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4A745-4165-B921-8786-A1DA1302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43C2B4D-2B6F-A61E-4790-82D84E7DDDC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Computing </a:t>
                </a:r>
                <a:r>
                  <a:rPr lang="en-US" altLang="ko-KR" sz="28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DLog</a:t>
                </a:r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80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ar-AE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 </a:t>
                </a:r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vs </a:t>
                </a:r>
                <a14:m>
                  <m:oMath xmlns:m="http://schemas.openxmlformats.org/officeDocument/2006/math">
                    <m:r>
                      <a:rPr lang="ko-KR" altLang="en-US" sz="28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altLang="ko-KR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ko-KR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43C2B4D-2B6F-A61E-4790-82D84E7D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6796DF8-9F33-D492-A036-CDF55D49B5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167311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Finding Cyclic Groups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Fact1: Let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/>
                  <a:t> be a prime. Then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ar-AE" altLang="ko-KR" dirty="0"/>
                  <a:t> </a:t>
                </a:r>
                <a:r>
                  <a:rPr lang="en-US" altLang="ko-KR" dirty="0"/>
                  <a:t>is cyclic.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Fact2: Let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dirty="0"/>
                  <a:t> be any group whose order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ar-AE" altLang="ko-KR" dirty="0"/>
                  <a:t> </a:t>
                </a:r>
                <a:r>
                  <a:rPr lang="en-US" altLang="ko-KR" dirty="0"/>
                  <a:t>is a prime number. Then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dirty="0"/>
                  <a:t> is cyclic.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ko-KR" altLang="en-US" sz="24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ko-KR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2400" dirty="0"/>
                  <a:t> 2</a:t>
                </a:r>
                <a:r>
                  <a:rPr lang="ko-KR" altLang="en-US" sz="2400" dirty="0"/>
                  <a:t>보다 큰 홀수 소수일 때</a:t>
                </a:r>
                <a:r>
                  <a:rPr lang="en-US" altLang="ko-KR" sz="2400" dirty="0"/>
                  <a:t>,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sz="2400" dirty="0"/>
                  <a:t> </a:t>
                </a:r>
                <a:r>
                  <a:rPr lang="ko-KR" altLang="en-US" sz="2400" dirty="0"/>
                  <a:t>항상 짝수이므로 소수가 될 수 없다</a:t>
                </a:r>
                <a:r>
                  <a:rPr lang="en-US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따라서 군의 위수가 소수임을 전제로 하는 </a:t>
                </a:r>
                <a:r>
                  <a:rPr lang="en-US" altLang="ko-KR" sz="2400" dirty="0"/>
                  <a:t>Fact2</a:t>
                </a:r>
                <a:r>
                  <a:rPr lang="ko-KR" altLang="en-US" sz="2400" dirty="0"/>
                  <a:t>는 </a:t>
                </a:r>
                <a:r>
                  <a:rPr lang="en-US" altLang="ko-KR" sz="2400" dirty="0"/>
                  <a:t>Fact1</a:t>
                </a:r>
                <a:r>
                  <a:rPr lang="ko-KR" altLang="en-US" sz="2400" dirty="0"/>
                  <a:t>을 증명하거나</a:t>
                </a:r>
                <a:endParaRPr lang="en-US" altLang="ko-KR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  </a:t>
                </a:r>
                <a:r>
                  <a:rPr lang="ko-KR" altLang="en-US" sz="2400" dirty="0" err="1"/>
                  <a:t>함의하지</a:t>
                </a:r>
                <a:r>
                  <a:rPr lang="ko-KR" altLang="en-US" sz="2400" dirty="0"/>
                  <a:t> 않으며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두 정리는 독립적으로 작용한다</a:t>
                </a:r>
                <a:r>
                  <a:rPr lang="en-US" altLang="ko-KR" sz="2400" dirty="0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6796DF8-9F33-D492-A036-CDF55D49B5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167311"/>
              </a:xfrm>
              <a:blipFill>
                <a:blip r:embed="rId3"/>
                <a:stretch>
                  <a:fillRect l="-812" r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FBAB93-C0A5-BF14-9EA2-0C2848E1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E8A32903-2B2A-2B45-91FC-F6DC3B249A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72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D17EA-7D9D-FBD2-18F8-71BAB66C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39EDB7A-0EF7-CEA3-280A-B891D892BD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Computing </a:t>
                </a:r>
                <a:r>
                  <a:rPr lang="en-US" altLang="ko-KR" sz="28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DLog</a:t>
                </a:r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80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ar-AE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 </a:t>
                </a:r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vs </a:t>
                </a:r>
                <a14:m>
                  <m:oMath xmlns:m="http://schemas.openxmlformats.org/officeDocument/2006/math">
                    <m:r>
                      <a:rPr lang="ko-KR" altLang="en-US" sz="28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altLang="ko-KR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ko-KR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39EDB7A-0EF7-CEA3-280A-B891D892B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CD43F3E-D3D8-2D10-010A-8902757327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00" y="1414046"/>
                <a:ext cx="10515600" cy="516731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ar-AE" altLang="ko-KR" sz="2400" dirty="0">
                    <a:solidFill>
                      <a:schemeClr val="tx1"/>
                    </a:solidFill>
                  </a:rPr>
                  <a:t> 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vs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2400" dirty="0">
                    <a:solidFill>
                      <a:schemeClr val="tx1"/>
                    </a:solidFill>
                  </a:rPr>
                  <a:t>주로 유한체의 곱셈군인</a:t>
                </a:r>
                <a:r>
                  <a:rPr lang="ar-AE" altLang="ko-KR" sz="2400" dirty="0">
                    <a:solidFill>
                      <a:schemeClr val="tx1"/>
                    </a:solidFill>
                  </a:rPr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ko-KR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en-US" altLang="ko-KR" sz="24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유한체 상의 </a:t>
                </a:r>
                <a:r>
                  <a:rPr lang="ko-KR" altLang="en-US" sz="2400" dirty="0" err="1">
                    <a:solidFill>
                      <a:schemeClr val="tx1"/>
                    </a:solidFill>
                  </a:rPr>
                  <a:t>곡선군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ko-KR" altLang="en-US" sz="2400" dirty="0">
                    <a:solidFill>
                      <a:schemeClr val="tx1"/>
                    </a:solidFill>
                  </a:rPr>
                  <a:t>가 주로 사용된다</a:t>
                </a:r>
                <a:r>
                  <a:rPr lang="en-US" altLang="ko-KR" sz="2400" dirty="0"/>
                  <a:t>.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CD43F3E-D3D8-2D10-010A-8902757327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1414046"/>
                <a:ext cx="10515600" cy="5167312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D446BC-B21A-354F-69E3-B5BE0D81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1C9A4AFF-141C-9917-5A05-03D225357C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42F4AD3-3929-DDD4-ADCB-64877EBEC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083" y="2092380"/>
            <a:ext cx="6867834" cy="267323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17B72FD-F0EE-FE82-60CF-A88E0771D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5169" y="5546414"/>
            <a:ext cx="7494452" cy="111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44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7178-CA1C-E0BE-BEB9-DEC6A2A8A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AA5F6AB9-6FA0-719D-5B12-CCC9046970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Computing </a:t>
                </a:r>
                <a:r>
                  <a:rPr lang="en-US" altLang="ko-KR" sz="28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DLog</a:t>
                </a:r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80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ar-AE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 </a:t>
                </a:r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vs </a:t>
                </a:r>
                <a14:m>
                  <m:oMath xmlns:m="http://schemas.openxmlformats.org/officeDocument/2006/math">
                    <m:r>
                      <a:rPr lang="ko-KR" altLang="en-US" sz="28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altLang="ko-KR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ko-KR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AA5F6AB9-6FA0-719D-5B12-CCC9046970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A914A23-922E-56F9-E023-E0F7094FD5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00" y="1414046"/>
                <a:ext cx="10515600" cy="544395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solidFill>
                      <a:schemeClr val="tx1"/>
                    </a:solidFill>
                  </a:rPr>
                  <a:t>Ex: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ko-KR" sz="2400" dirty="0"/>
                  <a:t>: 2019</a:t>
                </a:r>
                <a:r>
                  <a:rPr lang="ko-KR" altLang="en-US" sz="2400" dirty="0"/>
                  <a:t>년 기준으로 약 </a:t>
                </a:r>
                <a:r>
                  <a:rPr lang="en-US" altLang="ko-KR" sz="2400" dirty="0"/>
                  <a:t>795</a:t>
                </a:r>
                <a:r>
                  <a:rPr lang="ko-KR" altLang="en-US" sz="2400" dirty="0"/>
                  <a:t>비트 크기의 소수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24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대한 이산 로그 </a:t>
                </a:r>
                <a:r>
                  <a:rPr lang="ko-KR" altLang="en-US" sz="2400" dirty="0"/>
                  <a:t>계산이 기록 되었다</a:t>
                </a:r>
                <a:r>
                  <a:rPr lang="en-US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현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재</m:t>
                    </m:r>
                  </m:oMath>
                </a14:m>
                <a:r>
                  <a:rPr lang="en-US" altLang="ko-KR" sz="24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기록은 약 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114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비트 수준이다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A914A23-922E-56F9-E023-E0F7094FD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1414046"/>
                <a:ext cx="10515600" cy="5443954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DF9839-7A13-AC6B-DF75-631BE4D8E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AD47187F-1ED3-1D79-C9BB-B2D1E4F9C1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5E2C457-3B21-F6BD-5C78-88EE08B91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921" y="1966490"/>
            <a:ext cx="3683357" cy="292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20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1D57C-FE1C-DBD5-856F-C6EC669E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536BDBA-50E6-1C27-F393-A2E71C37501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Computing </a:t>
                </a:r>
                <a:r>
                  <a:rPr lang="en-US" altLang="ko-KR" sz="28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DLog</a:t>
                </a:r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80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ar-AE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 </a:t>
                </a:r>
                <a:r>
                  <a:rPr lang="en-US" altLang="ko-KR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vs </a:t>
                </a:r>
                <a14:m>
                  <m:oMath xmlns:m="http://schemas.openxmlformats.org/officeDocument/2006/math">
                    <m:r>
                      <a:rPr lang="ko-KR" altLang="en-US" sz="28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altLang="ko-KR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ar-AE" sz="28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ko-KR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536BDBA-50E6-1C27-F393-A2E71C3750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651968-D5D5-12F3-300B-FCFA75C336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00" y="1414046"/>
                <a:ext cx="10515600" cy="544395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solidFill>
                      <a:schemeClr val="tx1"/>
                    </a:solidFill>
                  </a:rPr>
                  <a:t>Ex: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ko-KR" sz="2400" dirty="0"/>
                  <a:t>: 2019</a:t>
                </a:r>
                <a:r>
                  <a:rPr lang="ko-KR" altLang="en-US" sz="2400" dirty="0"/>
                  <a:t>년 기준으로 약 </a:t>
                </a:r>
                <a:r>
                  <a:rPr lang="en-US" altLang="ko-KR" sz="2400" dirty="0"/>
                  <a:t>795</a:t>
                </a:r>
                <a:r>
                  <a:rPr lang="ko-KR" altLang="en-US" sz="2400" dirty="0"/>
                  <a:t>비트 크기의 소수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24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대한 이산 로그 </a:t>
                </a:r>
                <a:r>
                  <a:rPr lang="ko-KR" altLang="en-US" sz="2400" dirty="0"/>
                  <a:t>계산이 기록 되었다</a:t>
                </a:r>
                <a:r>
                  <a:rPr lang="en-US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현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재</m:t>
                    </m:r>
                  </m:oMath>
                </a14:m>
                <a:r>
                  <a:rPr lang="en-US" altLang="ko-KR" sz="24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기록은 약 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114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비트 수준이다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651968-D5D5-12F3-300B-FCFA75C33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1414046"/>
                <a:ext cx="10515600" cy="5443954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F8DEF8-E2FB-F666-4198-002BEF3C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3DE65162-B146-16CB-CB23-CF7D07AB1D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845D236-ECCD-7A2A-D3E8-17B93354B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921" y="1966490"/>
            <a:ext cx="3683357" cy="29250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7F659086-55F1-EA10-99F3-2905416ADAE0}"/>
                  </a:ext>
                </a:extLst>
              </p:cNvPr>
              <p:cNvSpPr/>
              <p:nvPr/>
            </p:nvSpPr>
            <p:spPr>
              <a:xfrm>
                <a:off x="1283368" y="2172407"/>
                <a:ext cx="9930063" cy="251318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800" b="1" dirty="0"/>
                  <a:t>결론</a:t>
                </a:r>
                <a:r>
                  <a:rPr lang="en-US" altLang="ko-KR" sz="2800" b="1" dirty="0"/>
                  <a:t>: </a:t>
                </a:r>
                <a:r>
                  <a:rPr lang="ko-KR" altLang="en-US" sz="2800" b="1" dirty="0"/>
                  <a:t>비트 길이가 </a:t>
                </a:r>
                <a:r>
                  <a:rPr lang="en-US" altLang="ko-KR" sz="2800" b="1" dirty="0"/>
                  <a:t>114</a:t>
                </a:r>
                <a:r>
                  <a:rPr lang="ko-KR" altLang="en-US" sz="2800" b="1" dirty="0"/>
                  <a:t>비트로 동일할 때</a:t>
                </a:r>
                <a:r>
                  <a:rPr lang="en-US" altLang="ko-KR" sz="2800" b="1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28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ko-KR" altLang="ar-AE" sz="28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ar-AE" altLang="ko-KR" sz="2800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ko-KR" altLang="en-US" sz="2800" b="1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sz="2800" b="1" dirty="0"/>
                  <a:t> 무력화되지만</a:t>
                </a:r>
                <a:r>
                  <a:rPr lang="en-US" altLang="ko-KR" sz="2800" b="1" dirty="0"/>
                  <a:t> </a:t>
                </a:r>
                <a14:m>
                  <m:oMath xmlns:m="http://schemas.openxmlformats.org/officeDocument/2006/math">
                    <m:r>
                      <a:rPr lang="ko-KR" altLang="en-US" sz="2800" b="1" i="1">
                        <a:latin typeface="Cambria Math" panose="02040503050406030204" pitchFamily="18" charset="0"/>
                      </a:rPr>
                      <m:t>𝑬</m:t>
                    </m:r>
                    <m:sSub>
                      <m:sSubPr>
                        <m:ctrlPr>
                          <a:rPr lang="ko-KR" alt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ko-KR" altLang="en-US" sz="28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ko-KR" altLang="en-US" sz="2800" b="1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sz="2800" b="1" dirty="0"/>
                  <a:t> 해독 한계 수준의 방어 장벽을 유지한다</a:t>
                </a:r>
                <a:r>
                  <a:rPr lang="en-US" altLang="ko-KR" sz="2800" b="1" dirty="0"/>
                  <a:t>.</a:t>
                </a:r>
                <a:endParaRPr lang="ko-KR" altLang="en-US" sz="2800" b="1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7F659086-55F1-EA10-99F3-2905416ADA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68" y="2172407"/>
                <a:ext cx="9930063" cy="2513184"/>
              </a:xfrm>
              <a:prstGeom prst="rect">
                <a:avLst/>
              </a:prstGeom>
              <a:blipFill>
                <a:blip r:embed="rId5"/>
                <a:stretch>
                  <a:fillRect l="-246" r="-1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945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C2CF6-3924-FBB6-DA4F-4A6440BC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42A04BD-DDAF-40A7-F762-B598CD498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Discrete Logarithms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8C9A061-B65E-E8DB-D5D4-000AEACE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8D401-673A-487D-06DE-0150186340D3}"/>
              </a:ext>
            </a:extLst>
          </p:cNvPr>
          <p:cNvSpPr txBox="1"/>
          <p:nvPr/>
        </p:nvSpPr>
        <p:spPr>
          <a:xfrm>
            <a:off x="838199" y="3248344"/>
            <a:ext cx="10515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dirty="0"/>
              <a:t>Why EC Groups &amp; Moore’s Law</a:t>
            </a:r>
            <a:endParaRPr lang="ar-AE" altLang="ko-KR" sz="7200" dirty="0"/>
          </a:p>
        </p:txBody>
      </p:sp>
    </p:spTree>
    <p:extLst>
      <p:ext uri="{BB962C8B-B14F-4D97-AF65-F5344CB8AC3E}">
        <p14:creationId xmlns:p14="http://schemas.microsoft.com/office/powerpoint/2010/main" val="312964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7BBB-3809-204E-B93D-4502121EE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3B511-8479-487D-F7CF-DEAC6FA8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Why EC Groups &amp; Moore’s Law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1350963-1B1A-F550-1625-171985CE64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00" y="1690688"/>
                <a:ext cx="10515600" cy="516731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>
                    <a:solidFill>
                      <a:schemeClr val="tx1"/>
                    </a:solidFill>
                  </a:rPr>
                  <a:t>곱셈군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ar-AE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ko-KR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2400" dirty="0">
                    <a:solidFill>
                      <a:schemeClr val="tx1"/>
                    </a:solidFill>
                  </a:rPr>
                  <a:t>는 </a:t>
                </a:r>
                <a:r>
                  <a:rPr lang="ko-KR" altLang="en-US" sz="2400" dirty="0" err="1">
                    <a:solidFill>
                      <a:schemeClr val="tx1"/>
                    </a:solidFill>
                  </a:rPr>
                  <a:t>준지수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 시간 해독 알고리즘이 존재하여 보안 성능이 저하된다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타원 곡선 군 </a:t>
                </a:r>
                <a:r>
                  <a:rPr lang="en-US" altLang="ko-KR" sz="2400" dirty="0"/>
                  <a:t>(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sz="24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기하학적 점 가산 연산을 채택하여 대수적 해독을 무력화하고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2400" dirty="0">
                    <a:solidFill>
                      <a:schemeClr val="tx1"/>
                    </a:solidFill>
                  </a:rPr>
                  <a:t>최적 복잡도를 순수 지수 시간 </a:t>
                </a:r>
                <a14:m>
                  <m:oMath xmlns:m="http://schemas.openxmlformats.org/officeDocument/2006/math">
                    <m:r>
                      <a:rPr lang="ko-KR" altLang="en-US" sz="240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e>
                    </m:d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24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2400" dirty="0" err="1">
                    <a:solidFill>
                      <a:schemeClr val="tx1"/>
                    </a:solidFill>
                  </a:rPr>
                  <a:t>묶어둔다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이때 연산 능력이 지수적으로 증가한다는 무어의 법칙</a:t>
                </a:r>
                <a:r>
                  <a:rPr lang="en-US" altLang="ko-KR" sz="2400" dirty="0"/>
                  <a:t>(18</a:t>
                </a:r>
                <a:r>
                  <a:rPr lang="ko-KR" altLang="en-US" sz="2400" dirty="0"/>
                  <a:t>개월마다 </a:t>
                </a:r>
                <a:r>
                  <a:rPr lang="en-US" altLang="ko-KR" sz="2400" dirty="0"/>
                  <a:t>2</a:t>
                </a:r>
                <a:r>
                  <a:rPr lang="ko-KR" altLang="en-US" sz="2400" dirty="0"/>
                  <a:t>배</a:t>
                </a:r>
                <a:r>
                  <a:rPr lang="en-US" altLang="ko-KR" sz="2400" dirty="0"/>
                  <a:t>) </a:t>
                </a:r>
                <a:r>
                  <a:rPr lang="ko-KR" altLang="en-US" sz="2400" dirty="0"/>
                  <a:t>하에서 두 군의 키 크기 확장 효율성은 극명한 격차를 보인다</a:t>
                </a:r>
                <a:endParaRPr lang="en-US" altLang="ko-KR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1350963-1B1A-F550-1625-171985CE64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1690688"/>
                <a:ext cx="10515600" cy="5167312"/>
              </a:xfrm>
              <a:blipFill>
                <a:blip r:embed="rId2"/>
                <a:stretch>
                  <a:fillRect l="-812" r="-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EED8E2-C5CA-511E-89F8-F30DBAA0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AFA4B8D1-16FA-3219-33A0-09B0FDBA44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61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A2F87-B56F-EA06-7979-AD8007C7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6B5CD-C864-BD3B-F101-40829977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Why EC Groups &amp; Moore’s Law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5897FC-08AB-6B98-9B85-5F8801B1E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1572126"/>
            <a:ext cx="11057021" cy="528587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tx1"/>
                </a:solidFill>
              </a:rPr>
              <a:t>Ex: 80-bit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058749-DC78-3CA2-55A5-01556F287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977117A8-29D5-98F7-A656-46437A043B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3AE5C8B-7491-9881-E082-8E0B730C0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21" y="2396499"/>
            <a:ext cx="9879357" cy="395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02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FF12-FA80-2024-6776-DB406C86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7B5BE-AFFC-0CA8-9820-DC75FCB67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Why EC Groups &amp; Moore’s Law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768077-7D52-1C68-C5A0-EBCABE3E2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32" y="1690688"/>
            <a:ext cx="11646568" cy="516731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tx1"/>
                </a:solidFill>
              </a:rPr>
              <a:t>Ex: 80-bit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86AB96-C4BE-890D-07EB-5ADCFE8B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3FE3C151-72D5-1C89-2B0D-D322166070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6C1C66-2FB6-A198-D8A6-676127169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45505"/>
            <a:ext cx="10808368" cy="274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85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A4612-332A-F9EC-5BAC-7C3A5414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91BA2B-AB16-16F4-BCEC-C1E6EC46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9A114-924F-713A-82A0-D2F2BB5A91EE}"/>
              </a:ext>
            </a:extLst>
          </p:cNvPr>
          <p:cNvSpPr txBox="1"/>
          <p:nvPr/>
        </p:nvSpPr>
        <p:spPr>
          <a:xfrm>
            <a:off x="838199" y="3248344"/>
            <a:ext cx="10515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dirty="0"/>
              <a:t>DL and CDH Games</a:t>
            </a:r>
            <a:endParaRPr lang="ar-AE" altLang="ko-KR" sz="400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3F991A6-A599-0F16-E2D3-7DD3EB776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120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B5E89-D420-F837-1A68-7A998D767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94B12-B3C3-87D8-EB65-C7DE87D79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DL Game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2BCA7A-BE1D-BDAB-1629-93C5F9DA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AAFF4475-54DA-4D77-9820-A409A7FDFD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>
                <a:extLst>
                  <a:ext uri="{FF2B5EF4-FFF2-40B4-BE49-F238E27FC236}">
                    <a16:creationId xmlns:a16="http://schemas.microsoft.com/office/drawing/2014/main" id="{13B2B908-2AA0-8DD8-D8C1-3537D3928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배경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이산 로그 문제의 난해성을 직관이 아닌 수학적 모델로 엄밀하게 평가하기 위함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위수가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ko-KR" altLang="en-US" dirty="0"/>
                  <a:t> 순환 군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=⟨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⟩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서 공격자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와 시스템 간의 상호작용을 게임 형태로 정의한다</a:t>
                </a:r>
                <a:r>
                  <a:rPr lang="en-US" altLang="ko-KR" dirty="0"/>
                  <a:t>.</a:t>
                </a:r>
                <a:br>
                  <a:rPr lang="ko-KR" altLang="en-US" dirty="0"/>
                </a:br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5">
                <a:extLst>
                  <a:ext uri="{FF2B5EF4-FFF2-40B4-BE49-F238E27FC236}">
                    <a16:creationId xmlns:a16="http://schemas.microsoft.com/office/drawing/2014/main" id="{13B2B908-2AA0-8DD8-D8C1-3537D3928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354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E816-5178-402D-C898-0CC4B5241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75EBB6-1288-A450-22B4-FE5B36A7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DL Game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79A4A6-45A0-495B-BBD8-D9474BB1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F1805528-1C78-7565-8D58-0F23D35B8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58C5CDEC-8515-ECFD-2A8A-590D1BA008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  <a:p>
                <a:pPr>
                  <a:lnSpc>
                    <a:spcPct val="110000"/>
                  </a:lnSpc>
                </a:pPr>
                <a:r>
                  <a:rPr lang="en-US" altLang="ko-KR" sz="2400" dirty="0"/>
                  <a:t>Initialize (</a:t>
                </a:r>
                <a:r>
                  <a:rPr lang="ko-KR" altLang="en-US" sz="2400" dirty="0"/>
                  <a:t>초기화</a:t>
                </a:r>
                <a:r>
                  <a:rPr lang="en-US" altLang="ko-KR" sz="2400" dirty="0"/>
                  <a:t>): </a:t>
                </a:r>
                <a:r>
                  <a:rPr lang="ko-KR" altLang="en-US" sz="2400" dirty="0"/>
                  <a:t>시스템은 무작위 지수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240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ko-KR" altLang="en-US" sz="2400" dirty="0"/>
                  <a:t>를 무작위로 선택하고</a:t>
                </a:r>
                <a:r>
                  <a:rPr lang="en-US" altLang="ko-KR" sz="2400" dirty="0"/>
                  <a:t>,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sz="240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ko-KR" altLang="en-US" sz="2400" dirty="0"/>
                  <a:t>를 계산하여 공격자에게 </a:t>
                </a:r>
                <a:r>
                  <a:rPr lang="ko-KR" altLang="en-US" sz="2400" dirty="0" err="1"/>
                  <a:t>공격값</a:t>
                </a:r>
                <a:r>
                  <a:rPr lang="ko-KR" altLang="en-US" sz="2400" dirty="0"/>
                  <a:t>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/>
                  <a:t>를 제공한다</a:t>
                </a:r>
                <a:r>
                  <a:rPr lang="en-US" altLang="ko-KR" sz="24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altLang="ko-KR" sz="2400" dirty="0"/>
                  <a:t>Finalize (</a:t>
                </a:r>
                <a:r>
                  <a:rPr lang="ko-KR" altLang="en-US" sz="2400" dirty="0"/>
                  <a:t>검증</a:t>
                </a:r>
                <a:r>
                  <a:rPr lang="en-US" altLang="ko-KR" sz="2400" dirty="0"/>
                  <a:t>): </a:t>
                </a:r>
                <a:r>
                  <a:rPr lang="ko-KR" altLang="en-US" sz="2400" dirty="0"/>
                  <a:t>공격자는 이산 로그 역산을 시도하여 도출한 지수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2400" dirty="0"/>
                  <a:t>를 제출하며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시스템은 </a:t>
                </a:r>
                <a:r>
                  <a:rPr lang="en-US" altLang="ko-KR" sz="2400" dirty="0"/>
                  <a:t>(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sz="2400" dirty="0"/>
                  <a:t>) </a:t>
                </a:r>
                <a:r>
                  <a:rPr lang="ko-KR" altLang="en-US" sz="2400" dirty="0"/>
                  <a:t>여부를 판별하여 결과를 반환한다</a:t>
                </a:r>
                <a:r>
                  <a:rPr lang="en-US" altLang="ko-KR" sz="2400" dirty="0"/>
                  <a:t>.</a:t>
                </a:r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58C5CDEC-8515-ECFD-2A8A-590D1BA00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b="-6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9E906882-7352-971C-7887-DD83F2030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887" y="1646238"/>
            <a:ext cx="9118608" cy="241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11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855FE-BE1D-A2AC-CC3F-45E9684F2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470BA-27AD-2FDD-B40E-6873C7AE0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DL Game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940104-18A8-5E93-82DA-4B58D2F4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9E65CAA7-23BC-0327-D124-97F3A743BC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1F326322-3E60-87B9-F7A7-E60941CEE2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DL-Advantage: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공격자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dirty="0"/>
                  <a:t>가 이 게임에서 정확한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/>
                  <a:t>를 찾아내어 승리할 확률을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𝐴𝑑</m:t>
                    </m:r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𝑑𝑙</m:t>
                        </m:r>
                      </m:sup>
                    </m:sSubSup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begChr m:val="["/>
                        <m:endChr m:val="]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𝐷</m:t>
                        </m:r>
                        <m:sSubSup>
                          <m:sSubSup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𝑡𝑟𝑢𝑒</m:t>
                        </m:r>
                      </m:e>
                    </m:d>
                  </m:oMath>
                </a14:m>
                <a:r>
                  <a:rPr lang="ko-KR" altLang="en-US" dirty="0"/>
                  <a:t> 로 정의한다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안전한 암호 시스템을 구축하려면 이 확률이 현실적으로 무시할 수 있을 만큼 극히 낮아야 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1F326322-3E60-87B9-F7A7-E60941CEE2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899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61057-2A1F-2420-E9E3-C2135CE1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ADCDD-301D-0DB8-8475-40092F5FE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CDH Problem &amp; Relationship to DL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8C444-2C9D-56EF-F724-F602CA068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694E13D6-68DD-2248-0642-61C6DB6132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45485C7F-3293-3923-7DC2-2E952FB00B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CDH </a:t>
                </a:r>
                <a:r>
                  <a:rPr lang="ko-KR" altLang="en-US" sz="2400" dirty="0"/>
                  <a:t>문제</a:t>
                </a:r>
                <a:r>
                  <a:rPr lang="en-US" altLang="ko-KR" sz="2400" dirty="0"/>
                  <a:t>: CDH(Computational Diffie-Hellman) </a:t>
                </a:r>
                <a:r>
                  <a:rPr lang="ko-KR" altLang="en-US" sz="2400" dirty="0"/>
                  <a:t>문제는 실제 </a:t>
                </a:r>
                <a:r>
                  <a:rPr lang="en-US" altLang="ko-KR" sz="2400" dirty="0"/>
                  <a:t>Diffie-Hellman </a:t>
                </a:r>
                <a:r>
                  <a:rPr lang="ko-KR" altLang="en-US" sz="2400" dirty="0"/>
                  <a:t>비밀 키 교환 프로토콜의 안전성을 직접적으로 뒷받침하는 핵심 난제이다</a:t>
                </a:r>
                <a:r>
                  <a:rPr lang="en-US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목표</a:t>
                </a:r>
                <a:r>
                  <a:rPr lang="en-US" altLang="ko-KR" sz="2400" dirty="0"/>
                  <a:t>: </a:t>
                </a:r>
                <a:r>
                  <a:rPr lang="ko-KR" altLang="en-US" sz="2400" dirty="0" err="1"/>
                  <a:t>생성원</a:t>
                </a:r>
                <a:r>
                  <a:rPr lang="ko-KR" altLang="en-US" sz="2400" dirty="0"/>
                  <a:t>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ko-KR" altLang="en-US" sz="2400" dirty="0"/>
                  <a:t>와 네트워크에 공개된 두 값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ko-KR" altLang="en-US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sz="2400" dirty="0"/>
                  <a:t>,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ko-KR" altLang="en-US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ko-KR" altLang="en-US" sz="2400" dirty="0"/>
                  <a:t>가 주어졌을 때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공격자는 이 정보만을 가지고 두 지수가 결합된 최종 비밀 키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𝑥𝑦</m:t>
                        </m:r>
                      </m:sup>
                    </m:sSup>
                    <m:r>
                      <a:rPr lang="ko-KR" altLang="en-US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ko-KR" altLang="en-US" sz="2400" dirty="0"/>
                  <a:t>를 계산해야 한다</a:t>
                </a:r>
                <a:r>
                  <a:rPr lang="en-US" altLang="ko-KR" sz="24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45485C7F-3293-3923-7DC2-2E952FB00B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792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AEE0-E506-BB57-127D-A5C729EB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72BEE-BBA3-EAFA-62CB-7172A022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CDH Problem &amp; Relationship to DL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E63E7-2334-06E7-DED6-18C87CAE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ED68B763-038A-5999-335E-DD0D00BB3A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6ECE0118-1928-2E1E-64C4-288D0180A3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Relationship: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만약 공격자가 이산 로그 문제를 풀 수 있는 알고리즘을 가졌다면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공개값</a:t>
                </a:r>
                <a:r>
                  <a:rPr lang="ko-KR" altLang="en-US" dirty="0"/>
                  <a:t>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/>
                  <a:t>에서 지수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i="1"/>
                          <m:t>DLog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ko-KR" altLang="en-US" dirty="0"/>
                  <a:t>를 도출한 뒤 반대편 </a:t>
                </a:r>
                <a:r>
                  <a:rPr lang="ko-KR" altLang="en-US" dirty="0" err="1"/>
                  <a:t>공개값에</a:t>
                </a:r>
                <a:r>
                  <a:rPr lang="ko-KR" altLang="en-US" dirty="0"/>
                  <a:t> 지수화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수행하여 </a:t>
                </a:r>
                <a:r>
                  <a:rPr lang="en-US" altLang="ko-KR" dirty="0"/>
                  <a:t>CDH </a:t>
                </a:r>
                <a:r>
                  <a:rPr lang="ko-KR" altLang="en-US" dirty="0"/>
                  <a:t>문제를 쉽게 해결할 수 있다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역으로 </a:t>
                </a:r>
                <a:r>
                  <a:rPr lang="en-US" altLang="ko-KR" dirty="0"/>
                  <a:t>"CDH </a:t>
                </a:r>
                <a:r>
                  <a:rPr lang="ko-KR" altLang="en-US" dirty="0"/>
                  <a:t>문제 풀 수 있으면 </a:t>
                </a:r>
                <a:r>
                  <a:rPr lang="en-US" altLang="ko-KR" dirty="0"/>
                  <a:t>DL </a:t>
                </a:r>
                <a:r>
                  <a:rPr lang="ko-KR" altLang="en-US" dirty="0"/>
                  <a:t>문제도 풀 수 있는가</a:t>
                </a:r>
                <a:r>
                  <a:rPr lang="en-US" altLang="ko-KR" dirty="0"/>
                  <a:t>?"</a:t>
                </a:r>
                <a:r>
                  <a:rPr lang="ko-KR" altLang="en-US" dirty="0"/>
                  <a:t>는 미해결 문제이다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일단 매우 어렵다고 간주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6ECE0118-1928-2E1E-64C4-288D0180A3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3568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4583D-0D3C-82CC-E5E1-DCBC118B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61587-1144-3416-5CB9-647490E6B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CDH Game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003F6C-7522-BD4C-0040-EE945764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EB471A11-FAB8-818B-874D-D6EC97373A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75FE6056-F2D4-EE8F-B399-4F9D8039B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  <a:p>
                <a:pPr>
                  <a:lnSpc>
                    <a:spcPct val="110000"/>
                  </a:lnSpc>
                </a:pPr>
                <a:r>
                  <a:rPr lang="en-US" altLang="ko-KR" sz="2400" dirty="0"/>
                  <a:t>Initialize (</a:t>
                </a:r>
                <a:r>
                  <a:rPr lang="ko-KR" altLang="en-US" sz="2400" dirty="0"/>
                  <a:t>초기화</a:t>
                </a:r>
                <a:r>
                  <a:rPr lang="en-US" altLang="ko-KR" sz="2400" dirty="0"/>
                  <a:t>): </a:t>
                </a:r>
                <a:r>
                  <a:rPr lang="ko-KR" altLang="en-US" sz="2400" dirty="0"/>
                  <a:t>시스템은 두 개의 무작위 지수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sz="240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ko-KR" altLang="en-US" sz="2400" dirty="0"/>
                  <a:t>를 선택하고</a:t>
                </a:r>
                <a:r>
                  <a:rPr lang="en-US" altLang="ko-KR" sz="2400" dirty="0"/>
                  <a:t>,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sz="240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ko-KR" altLang="en-US" sz="2400" dirty="0"/>
                  <a:t>와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ko-KR" altLang="en-US" sz="240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ko-KR" altLang="en-US" sz="2400" dirty="0"/>
                  <a:t>를 계산하여 두 </a:t>
                </a:r>
                <a:r>
                  <a:rPr lang="ko-KR" altLang="en-US" sz="2400" dirty="0" err="1"/>
                  <a:t>공개값을</a:t>
                </a:r>
                <a:r>
                  <a:rPr lang="ko-KR" altLang="en-US" sz="2400" dirty="0"/>
                  <a:t> 공격자에게 제공한다</a:t>
                </a:r>
                <a:r>
                  <a:rPr lang="en-US" altLang="ko-KR" sz="24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altLang="ko-KR" sz="2400" dirty="0"/>
                  <a:t>Finalize (</a:t>
                </a:r>
                <a:r>
                  <a:rPr lang="ko-KR" altLang="en-US" sz="2400" dirty="0"/>
                  <a:t>검증</a:t>
                </a:r>
                <a:r>
                  <a:rPr lang="en-US" altLang="ko-KR" sz="2400" dirty="0"/>
                  <a:t>): </a:t>
                </a:r>
                <a:r>
                  <a:rPr lang="ko-KR" altLang="en-US" sz="2400" dirty="0"/>
                  <a:t>공격자는 획득한 두 </a:t>
                </a:r>
                <a:r>
                  <a:rPr lang="ko-KR" altLang="en-US" sz="2400" dirty="0" err="1"/>
                  <a:t>공개값을</a:t>
                </a:r>
                <a:r>
                  <a:rPr lang="ko-KR" altLang="en-US" sz="2400" dirty="0"/>
                  <a:t> 바탕으로 도출한 최종 비밀 키 후보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ko-KR" altLang="en-US" sz="2400" dirty="0"/>
                  <a:t>를 제출하며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시스템은 이것이 실제 비밀 키와 동일한지 </a:t>
                </a:r>
                <a:r>
                  <a:rPr lang="en-US" altLang="ko-KR" sz="2400" dirty="0"/>
                  <a:t>(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𝑥𝑦</m:t>
                        </m:r>
                      </m:sup>
                    </m:sSup>
                  </m:oMath>
                </a14:m>
                <a:r>
                  <a:rPr lang="en-US" altLang="ko-KR" sz="2400" dirty="0"/>
                  <a:t>) </a:t>
                </a:r>
                <a:r>
                  <a:rPr lang="ko-KR" altLang="en-US" sz="2400" dirty="0"/>
                  <a:t>검증하여 결과를 반환한다</a:t>
                </a:r>
                <a:r>
                  <a:rPr lang="en-US" altLang="ko-KR" sz="24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endParaRPr lang="en-US" altLang="ko-KR" sz="2400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75FE6056-F2D4-EE8F-B399-4F9D8039B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b="-145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2B3090E9-CA0E-02DE-7A45-87CA279C9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159" y="1520323"/>
            <a:ext cx="9337681" cy="281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25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10774-CD16-4F0D-2AED-75E723389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2011B-D441-8B01-241B-AEC9F7CC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CDH Game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355658-E1B8-93AE-CDAF-4A0F599BD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D2E83091-179A-A38D-2A19-AB65E3B766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1DA39BF2-A02C-3018-43FF-0123CAEF15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CDH-Advantage: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공격자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dirty="0"/>
                  <a:t>가 </a:t>
                </a:r>
                <a:r>
                  <a:rPr lang="en-US" altLang="ko-KR" dirty="0"/>
                  <a:t>CDH </a:t>
                </a:r>
                <a:r>
                  <a:rPr lang="ko-KR" altLang="en-US" dirty="0"/>
                  <a:t>게임에서 정확한 결합 비밀 키를 도출하여 승리할 확률은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𝐴𝑑</m:t>
                    </m:r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𝑐𝑑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begChr m:val="["/>
                        <m:endChr m:val="]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𝐶𝐷</m:t>
                        </m:r>
                        <m:sSubSup>
                          <m:sSubSup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𝑡𝑟𝑢𝑒</m:t>
                        </m:r>
                      </m:e>
                    </m:d>
                  </m:oMath>
                </a14:m>
                <a:r>
                  <a:rPr lang="ko-KR" altLang="en-US" dirty="0"/>
                  <a:t> 로 정의된다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1DA39BF2-A02C-3018-43FF-0123CAEF1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993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2D3E6-DAB6-CD86-D9DE-0044358C5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68FE87-0E24-8A3C-695C-C15B8F5B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32298F-5A7F-A259-36A1-D64FFF2ACA7A}"/>
              </a:ext>
            </a:extLst>
          </p:cNvPr>
          <p:cNvSpPr txBox="1"/>
          <p:nvPr/>
        </p:nvSpPr>
        <p:spPr>
          <a:xfrm>
            <a:off x="838199" y="3248344"/>
            <a:ext cx="10515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dirty="0"/>
              <a:t>Finding Cyclic Groups</a:t>
            </a:r>
            <a:endParaRPr lang="ar-AE" altLang="ko-KR" sz="400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F7CD0D8-6FCE-A331-3F22-F2CD8A1B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198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4FAC9-CBFB-7538-4781-3CA95DA3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3CD45-46E6-37CA-1DB4-8D5FF8AE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301352-7C5B-2153-66A2-7302E506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140980B8-C2AF-FB74-0673-BE153D0B51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5260183C-9BC2-03B4-173E-6F97E94F0D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배경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암호학적 시스템이 안전하고 정상적으로 작동하기 위해서는 거대한 크기의 순환 군과 그 군의 전체 공간을 생성하는 생성자를 효율적으로 찾아 구축해야 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이를 위해 시스템은</a:t>
                </a:r>
                <a:r>
                  <a:rPr lang="en-US" altLang="ko-KR" dirty="0"/>
                  <a:t>..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2400" dirty="0"/>
                  <a:t>적합한 형태의 거대한  소수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2400" dirty="0"/>
                  <a:t>를 찾고</a:t>
                </a:r>
                <a:r>
                  <a:rPr lang="en-US" altLang="ko-KR" sz="2400" dirty="0"/>
                  <a:t>,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ko-KR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ko-KR" altLang="en-US" sz="2400" i="1">
                        <a:latin typeface="Cambria Math" panose="02040503050406030204" pitchFamily="18" charset="0"/>
                      </a:rPr>
                      <m:t>내</m:t>
                    </m:r>
                  </m:oMath>
                </a14:m>
                <a:r>
                  <a:rPr lang="ko-KR" altLang="en-US" sz="2400" dirty="0"/>
                  <a:t>에서 무작위 원소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ko-KR" altLang="en-US" sz="2400" dirty="0"/>
                  <a:t>를 뽑아 생성자인지</a:t>
                </a:r>
                <a:r>
                  <a:rPr lang="en-US" altLang="ko-KR" sz="2400" dirty="0"/>
                  <a:t> </a:t>
                </a:r>
                <a:r>
                  <a:rPr lang="ko-KR" altLang="en-US" sz="2400" dirty="0"/>
                  <a:t>테스트하는 과정을 거친다</a:t>
                </a:r>
                <a:r>
                  <a:rPr lang="en-US" altLang="ko-KR" sz="2400" dirty="0"/>
                  <a:t>.</a:t>
                </a:r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5260183C-9BC2-03B4-173E-6F97E94F0D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580"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2998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58B21-945F-95D7-10B7-F90C816B9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06108-4B84-CCA2-AB59-D7EA4A0F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35C5F-96ED-874C-DA9D-78F2D96EC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F44E1F96-77ED-F615-F80E-6D96103BE9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B4B08E45-CEB4-0B24-8796-4673590C19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소수 탐색 알고리즘 </a:t>
                </a:r>
                <a:r>
                  <a:rPr lang="en-US" altLang="ko-KR" sz="2400" dirty="0"/>
                  <a:t>(</a:t>
                </a:r>
                <a:r>
                  <a:rPr lang="en-US" altLang="ko-KR" sz="2400" dirty="0" err="1"/>
                  <a:t>Findprime</a:t>
                </a:r>
                <a:r>
                  <a:rPr lang="en-US" altLang="ko-KR" sz="2400" dirty="0"/>
                  <a:t>(k)):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단순한 첫 번째로 걸려온 소수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2400" dirty="0"/>
                  <a:t>를 반환하는 것이 아니라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안전 소수 조건을 통과할 때까지 난수를 뽑고 검증하는 필터링 엔진으로 작동한다</a:t>
                </a:r>
                <a:r>
                  <a:rPr lang="en-US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B4B08E45-CEB4-0B24-8796-4673590C1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0C7E8215-B917-9D26-45FF-01308D7E6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894" y="2461989"/>
            <a:ext cx="5251506" cy="193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46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A1B42-4C80-DEBE-0CE8-6E001800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CB058-E13A-5210-6D2C-C572217D9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00974-C3FD-3252-4AB7-462C632C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4E34267D-63F7-5EAC-02A1-4B278E2406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4005D825-C55E-20D7-7600-EBA7AC2D7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안전 소수</a:t>
                </a:r>
                <a:r>
                  <a:rPr lang="en-US" altLang="ko-KR" sz="2400" dirty="0"/>
                  <a:t>(Safe prime):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단순히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dirty="0"/>
                  <a:t>가 소수인 것만 확인하는 것이 아니라</a:t>
                </a:r>
                <a:r>
                  <a:rPr lang="en-US" altLang="ko-KR" dirty="0"/>
                  <a:t>,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ko-KR" altLang="en-US" dirty="0"/>
                  <a:t> 연산 결과인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dirty="0"/>
                  <a:t>역시 소수인지 동시에 검증한다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이처럼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2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dirty="0"/>
                  <a:t> 구조를 만족하는 소수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dirty="0"/>
                  <a:t>를 암호학에서 안전 소수</a:t>
                </a:r>
                <a:r>
                  <a:rPr lang="en-US" altLang="ko-KR" dirty="0"/>
                  <a:t>(Safe prime)</a:t>
                </a:r>
                <a:r>
                  <a:rPr lang="ko-KR" altLang="en-US" dirty="0"/>
                  <a:t>이라 부른다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4005D825-C55E-20D7-7600-EBA7AC2D7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6525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755E-2D8C-6D03-D97D-69A4B143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8BD76-C47A-E52D-6F0D-E9446DC3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6B732-6495-13D2-F343-033946E1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EABF89CF-7E35-2547-8CA5-605C29C8FC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FC05B7CB-CA18-1F38-4877-09F00F97A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 err="1"/>
                  <a:t>부분군</a:t>
                </a:r>
                <a:r>
                  <a:rPr lang="ko-KR" altLang="en-US" sz="2400" dirty="0"/>
                  <a:t> 공격 </a:t>
                </a:r>
                <a:r>
                  <a:rPr lang="en-US" altLang="ko-KR" sz="2400" dirty="0"/>
                  <a:t>(Subgroup attack):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 err="1"/>
                  <a:t>곱셈군</a:t>
                </a:r>
                <a:r>
                  <a:rPr lang="ko-KR" altLang="en-US" dirty="0"/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/>
                  <a:t>의 전체 위수는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dirty="0"/>
                  <a:t>이다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만약 일반적인 소수를 사용하면</a:t>
                </a:r>
                <a:endParaRPr lang="en-US" altLang="ko-KR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dirty="0"/>
                  <a:t>이 </a:t>
                </a:r>
                <a:r>
                  <a:rPr lang="en-US" altLang="ko-KR" dirty="0"/>
                  <a:t>2, 3, 5, 7 </a:t>
                </a:r>
                <a:r>
                  <a:rPr lang="ko-KR" altLang="en-US" dirty="0"/>
                  <a:t>등 수많은 작은 소인수들을 약수로 가질 수 있다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FC05B7CB-CA18-1F38-4877-09F00F97A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4506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5529-A7B7-43A9-933A-5153166D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F001-5F2C-FFFA-4303-9D1C2EF55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CAD20-9147-ADC1-DBD3-A93CE74F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B187A2FA-CB35-CAE5-F569-9B4359EC52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96C08A2C-46C0-A0BF-8A2F-75C8C4BCF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err="1"/>
              <a:t>부분군</a:t>
            </a:r>
            <a:r>
              <a:rPr lang="ko-KR" altLang="en-US" sz="2400" dirty="0"/>
              <a:t> 공격 </a:t>
            </a:r>
            <a:r>
              <a:rPr lang="en-US" altLang="ko-KR" sz="2400" dirty="0"/>
              <a:t>(Subgroup attack):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라그랑주</a:t>
            </a:r>
            <a:r>
              <a:rPr lang="ko-KR" altLang="en-US" dirty="0"/>
              <a:t> 정리</a:t>
            </a:r>
            <a:r>
              <a:rPr lang="en-US" altLang="ko-KR" dirty="0"/>
              <a:t>(Lagrange's Theorem)</a:t>
            </a:r>
            <a:r>
              <a:rPr lang="ko-KR" altLang="en-US" dirty="0"/>
              <a:t>에 의해 군의 </a:t>
            </a:r>
            <a:r>
              <a:rPr lang="ko-KR" altLang="en-US" dirty="0" err="1"/>
              <a:t>부분군</a:t>
            </a:r>
            <a:r>
              <a:rPr lang="ko-KR" altLang="en-US" dirty="0"/>
              <a:t> 위수는 전체 위수의 약수여야 하므로</a:t>
            </a:r>
            <a:r>
              <a:rPr lang="en-US" altLang="ko-KR" dirty="0"/>
              <a:t>, </a:t>
            </a:r>
            <a:r>
              <a:rPr lang="ko-KR" altLang="en-US" dirty="0"/>
              <a:t>일반 소수 환경에서는 원소의 개수가 아주 작은 소규모 부분군들이 무수히 많이 존재하게 된다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93D02C-A269-C985-24B9-63DB5B3AE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55" y="4227075"/>
            <a:ext cx="10690289" cy="24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15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A10C3-3CA5-8AF2-FC1A-2CA749C6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9280E-DE01-E476-689C-86325867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B83F91-668B-2D47-2D58-3C1FA88C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15875046-D967-ACAB-BA01-66EBEB46D6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BA225B4F-866A-5EE5-5E7B-94219682A8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 err="1"/>
                  <a:t>부분군</a:t>
                </a:r>
                <a:r>
                  <a:rPr lang="ko-KR" altLang="en-US" sz="2400" dirty="0"/>
                  <a:t> 공격 </a:t>
                </a:r>
                <a:r>
                  <a:rPr lang="en-US" altLang="ko-KR" sz="2400" dirty="0"/>
                  <a:t>(Subgroup attack):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악의적인 공격자가 </a:t>
                </a:r>
                <a:r>
                  <a:rPr lang="en-US" altLang="ko-KR" dirty="0"/>
                  <a:t>Alice</a:t>
                </a:r>
                <a:r>
                  <a:rPr lang="ko-KR" altLang="en-US" dirty="0"/>
                  <a:t>에게 정상적인 생성자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ko-KR" altLang="en-US" dirty="0"/>
                  <a:t> 대신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위수가 아주 작은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예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위수가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인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부분군의 생성자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</m:sSub>
                  </m:oMath>
                </a14:m>
                <a:r>
                  <a:rPr lang="ko-KR" altLang="en-US" dirty="0"/>
                  <a:t>을 교환 값으로 슬쩍 밀어 넣는다고 가정해 보자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BA225B4F-866A-5EE5-5E7B-94219682A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7300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A8D0-2981-FEA8-1D7B-52530B19A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D965F-F61B-4806-F5BF-353E7B2AD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8F6AF5-55DE-92DD-B818-49D93085A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E738AD44-77E4-D7C4-2B17-86E4EC9425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EF27F766-485C-CC82-9704-5B0D404C3B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 err="1"/>
                  <a:t>부분군</a:t>
                </a:r>
                <a:r>
                  <a:rPr lang="ko-KR" altLang="en-US" sz="2400" dirty="0"/>
                  <a:t> 공격 </a:t>
                </a:r>
                <a:r>
                  <a:rPr lang="en-US" altLang="ko-KR" sz="2400" dirty="0"/>
                  <a:t>(Subgroup attack):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Alice</a:t>
                </a:r>
                <a:r>
                  <a:rPr lang="ko-KR" altLang="en-US" dirty="0"/>
                  <a:t>가 계산하는 값은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𝑠𝑚𝑎𝑙𝑙</m:t>
                            </m:r>
                          </m:sub>
                        </m:sSub>
                        <m:sSup>
                          <m:sSup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dirty="0"/>
                  <a:t>가 되는데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 값은 </a:t>
                </a:r>
                <a:r>
                  <a:rPr lang="en-US" altLang="ko-KR" dirty="0"/>
                  <a:t>Alice</a:t>
                </a:r>
                <a:r>
                  <a:rPr lang="ko-KR" altLang="en-US" dirty="0"/>
                  <a:t>의 비밀 키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/>
                  <a:t>가 아무리 거대하더라도 단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가지 상태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ko-KR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𝑠𝑚𝑎𝑙𝑙</m:t>
                        </m:r>
                      </m:sub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ko-KR" dirty="0"/>
                  <a:t>) </a:t>
                </a:r>
                <a:r>
                  <a:rPr lang="ko-KR" altLang="en-US" dirty="0"/>
                  <a:t>안에서만 맴돌게 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이를 통해 공격자는 거대한 비밀 키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/>
                  <a:t>를 직접 풀지 않고도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각 작은 부부군에서의 나머지 정보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ko-KR" altLang="en-US" dirty="0"/>
                  <a:t>를 이용해 비밀 키 전체를 복원하여 </a:t>
                </a:r>
                <a:r>
                  <a:rPr lang="ko-KR" altLang="en-US" dirty="0" err="1"/>
                  <a:t>부분군</a:t>
                </a:r>
                <a:r>
                  <a:rPr lang="ko-KR" altLang="en-US" dirty="0"/>
                  <a:t> 공격을 수행할 수 있다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EF27F766-485C-CC82-9704-5B0D404C3B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145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19E65-E34E-A3EE-5C1B-23A2E59A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D4E5E-694A-BD6A-25EC-73E772AE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DDBB47-2306-EED1-2224-CA47CC025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C8C7465B-C28F-0B47-A80B-00D2191D72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9CFF1B8C-B1D5-48E9-5876-039EAB2DFC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안전 소수의 방어 원리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 err="1"/>
                  <a:t>Findprime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알고리즘이 필터링해 준 안전 소수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2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채택하면 전체 위수는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2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dirty="0"/>
                  <a:t>가 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2</a:t>
                </a:r>
                <a:r>
                  <a:rPr lang="ko-KR" altLang="en-US" dirty="0"/>
                  <a:t>와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dirty="0"/>
                  <a:t>는 모두 소수이므로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 군이 가질 수 있는 부분군의 위수는 오직 </a:t>
                </a:r>
                <a:r>
                  <a:rPr lang="en-US" altLang="ko-KR" dirty="0"/>
                  <a:t>{1, 2, q, 2q} 4</a:t>
                </a:r>
                <a:r>
                  <a:rPr lang="ko-KR" altLang="en-US" dirty="0"/>
                  <a:t>가지로 제한된다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위수가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이나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인 무의미한 원소를 제외하면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공격자가 악용할 수 있는 진부부군은 위수가 거대한 소수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dirty="0"/>
                  <a:t>인 </a:t>
                </a:r>
                <a:r>
                  <a:rPr lang="ko-KR" altLang="en-US" dirty="0" err="1"/>
                  <a:t>부분군</a:t>
                </a:r>
                <a:r>
                  <a:rPr lang="ko-KR" altLang="en-US" dirty="0"/>
                  <a:t> 딱 하나만 남게 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9CFF1B8C-B1D5-48E9-5876-039EAB2DF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9809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D0C36-0CBE-8B92-095E-FFC57A3B0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5467C-EED9-769C-228C-6C0791A6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B86AA6-F7F7-B2CA-A729-E43897FF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9B201A03-23AE-1EB0-52DD-9DD9BF58D5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68005FB7-E490-ABE9-0FE4-E3D2AD97C9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안전 소수의 방어 원리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위수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dirty="0"/>
                  <a:t>는 수백</a:t>
                </a:r>
                <a:r>
                  <a:rPr lang="en-US" altLang="ko-KR" dirty="0"/>
                  <a:t>~</a:t>
                </a:r>
                <a:r>
                  <a:rPr lang="ko-KR" altLang="en-US" dirty="0"/>
                  <a:t>수천 비트의 거대한 소수이므로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공격자가 부분군으로 탐색 범위를 좁히더라도 그 내부 공간</a:t>
                </a:r>
                <a:r>
                  <a:rPr lang="en-US" altLang="ko-KR" dirty="0"/>
                  <a:t>($O(2^{|q|})$)</a:t>
                </a:r>
                <a:r>
                  <a:rPr lang="ko-KR" altLang="en-US" dirty="0"/>
                  <a:t>이 우주적으로 넓어 전수 조사가 </a:t>
                </a:r>
                <a:r>
                  <a:rPr lang="ko-KR" altLang="en-US" dirty="0" err="1"/>
                  <a:t>불가능해진다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안전 소수를 사용하는 것은 공격자가 침투할 수 있는 소규모 부분군들을 원천 봉쇄하는 방어 전략이다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68005FB7-E490-ABE9-0FE4-E3D2AD97C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5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9972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00068-1B05-A741-9D0E-67BCC25D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0186C9F-9AB7-FEB2-BBB2-A5C6A014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97FC7-A627-B789-1F67-B630AFBCB7E8}"/>
              </a:ext>
            </a:extLst>
          </p:cNvPr>
          <p:cNvSpPr txBox="1"/>
          <p:nvPr/>
        </p:nvSpPr>
        <p:spPr>
          <a:xfrm>
            <a:off x="838199" y="3248344"/>
            <a:ext cx="10515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dirty="0"/>
              <a:t>Primality testing</a:t>
            </a:r>
            <a:endParaRPr lang="ar-AE" altLang="ko-KR" sz="400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D21041D-F5FD-253D-542B-3972889C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484828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0EEC-A7AA-F705-95F8-C6998283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44CF9-51DB-2FF6-CC2C-937FD0B08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Primality testing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BEBF71-E322-5732-323C-E2558BEC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F3C8079F-EFD0-9793-8C1F-BF2C07622A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72B82EAF-8508-39F9-4B16-00BCA9E8C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배경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 err="1"/>
                  <a:t>Findprime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알고리즘 루프 안에서 추출한 거대 정수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dirty="0"/>
                  <a:t> 와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dirty="0"/>
                  <a:t>가 진짜 소수인지 판별해야 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일반적으로 생각할 수 있는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부터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⌈</m:t>
                    </m:r>
                    <m:rad>
                      <m:radPr>
                        <m:degHide m:val="on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ko-KR" altLang="en-US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lang="ko-KR" altLang="en-US" dirty="0"/>
                  <a:t>까지 모든 정수로 </a:t>
                </a:r>
                <a:r>
                  <a:rPr lang="ko-KR" altLang="en-US" dirty="0" err="1"/>
                  <a:t>나누어떨어지는지</a:t>
                </a:r>
                <a:r>
                  <a:rPr lang="ko-KR" altLang="en-US" dirty="0"/>
                  <a:t> 검사하는 알고리즘은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ko-KR" altLang="en-US" dirty="0"/>
                  <a:t>의 시간 복잡도를 가진다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정수의 크기가 수천 비트에 달하는 암호학적 환경에서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에서 입력 비트 길이에 대한 지수 시간을 의미하므로 실제 시스템에서는 연산이 불가능하다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72B82EAF-8508-39F9-4B16-00BCA9E8C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638" b="-123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6040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16371-6237-2628-5684-4B264DAAC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50B69-D75F-3B9B-DD92-1CE18397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Primality testing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595052-ECDF-36AE-50D1-BD0C4E85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A7576270-04D1-755E-A287-09F34121D3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3AEC3E34-43AD-3254-246E-C7DC0EDEB2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Polynomial time algorithms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현대 암호학에선 이를 극복하기 위해 다항 시간 내에 구동되는 고속 알고리즘을 채택한다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Miller-Rabin</a:t>
                </a:r>
                <a:r>
                  <a:rPr lang="ko-KR" altLang="en-US" dirty="0"/>
                  <a:t>과 같은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e>
                        <m:sSup>
                          <m:sSup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dirty="0"/>
                  <a:t> 복잡도의 확률론적 알고리즘을 사용하여 거대 정수의 소수 여부를 빠르게 판별한다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비록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e>
                        <m:sSup>
                          <m:sSup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dirty="0"/>
                  <a:t> 수준의 결정론적 알고리즘도 존재하지만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속도 측면에서 확률론적 알고리즘이 훨씬 우수하여 암호학적 소수 생성에 주로 쓰인다</a:t>
                </a:r>
                <a:r>
                  <a:rPr lang="en-US" altLang="ko-KR" dirty="0"/>
                  <a:t>.</a:t>
                </a:r>
              </a:p>
            </p:txBody>
          </p:sp>
        </mc:Choice>
        <mc:Fallback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3AEC3E34-43AD-3254-246E-C7DC0EDEB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580" b="-131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349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3B838-7A56-0C7A-3C02-B583DDE34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8A29DFF-FBA7-3922-7465-3C6C080B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493C5-D4E4-C5A9-3303-917D539506AF}"/>
              </a:ext>
            </a:extLst>
          </p:cNvPr>
          <p:cNvSpPr txBox="1"/>
          <p:nvPr/>
        </p:nvSpPr>
        <p:spPr>
          <a:xfrm>
            <a:off x="838199" y="3248344"/>
            <a:ext cx="10515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dirty="0"/>
              <a:t>Density of primes</a:t>
            </a:r>
            <a:endParaRPr lang="ar-AE" altLang="ko-KR" sz="400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CF3A38B-42E7-819F-19A7-3A990B9D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Finding Cyclic Groups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53331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F1C2-9335-CA73-2B7D-22F7312BD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438FA-1497-D0CE-B433-A8C4EE48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Density of primes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B88522-6DB5-FD6E-53F5-7946BE1B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8B2BA7F0-5251-1B55-7446-FF37592569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EE3625F-80DF-0774-92B7-D04A3F702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44" y="1840721"/>
            <a:ext cx="9143912" cy="410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329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5A76D-82DE-ADC1-85EA-FA9B928C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DB3DD-DD44-E00D-22A9-C3F7E030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Density of primes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647558-AC89-61BA-89A8-97404F41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17DD69B3-AB1E-7AF9-382D-D86EB8875F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BB4BAB3D-60EB-49DA-8892-584F099EB2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Ex: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altLang="ko-KR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sz="2400">
                            <a:latin typeface="Cambria Math" panose="02040503050406030204" pitchFamily="18" charset="0"/>
                          </a:rPr>
                          <m:t>1024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ko-KR" sz="2400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실제 공개키 암호학에서 널리 쓰이는 </a:t>
                </a:r>
                <a:r>
                  <a:rPr lang="en-US" altLang="ko-KR" dirty="0"/>
                  <a:t>1024</a:t>
                </a:r>
                <a:r>
                  <a:rPr lang="ko-KR" altLang="en-US" dirty="0"/>
                  <a:t>비트 크기의 정수 공간을 가정해 보자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이때 무작위로 추출한 숫자가 소수일 확률은</a:t>
                </a:r>
                <a:endParaRPr lang="en-US" altLang="ko-KR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ko-KR" dirty="0"/>
                  <a:t>  </a:t>
                </a:r>
                <a:r>
                  <a:rPr lang="ko-KR" altLang="en-US" dirty="0"/>
                  <a:t>즉 약 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700</m:t>
                    </m:r>
                  </m:oMath>
                </a14:m>
                <a:r>
                  <a:rPr lang="ko-KR" altLang="en-US" dirty="0"/>
                  <a:t>의 확률을 가진다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BB4BAB3D-60EB-49DA-8892-584F099EB2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A8EF83A8-0F50-8E64-C88F-922D0ED98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860" y="3525253"/>
            <a:ext cx="3083562" cy="71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0868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26803-ACB5-1E24-EFB0-C5412C1CD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B82AC-9C28-52CE-A8AC-FB3C7FCE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Density of primes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EA227A-4BE2-4F91-1DA5-CA861599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04CCF117-F215-713E-2357-3AE29CCC33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CD7E4F82-F4A7-A4FD-613E-45027AD204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Ex: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altLang="ko-KR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sz="2400">
                            <a:latin typeface="Cambria Math" panose="02040503050406030204" pitchFamily="18" charset="0"/>
                          </a:rPr>
                          <m:t>1024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ko-KR" sz="2400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실제 공개키 암호학에서 널리 쓰이는 </a:t>
                </a:r>
                <a:r>
                  <a:rPr lang="en-US" altLang="ko-KR" dirty="0"/>
                  <a:t>1024</a:t>
                </a:r>
                <a:r>
                  <a:rPr lang="ko-KR" altLang="en-US" dirty="0"/>
                  <a:t>비트 크기의 정수 공간을 가정해 보자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이때 무작위로 추출한 숫자가 소수일 확률은</a:t>
                </a:r>
                <a:endParaRPr lang="en-US" altLang="ko-KR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ko-KR" dirty="0"/>
                  <a:t>  </a:t>
                </a:r>
                <a:r>
                  <a:rPr lang="ko-KR" altLang="en-US" dirty="0"/>
                  <a:t>즉 약 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700</m:t>
                    </m:r>
                  </m:oMath>
                </a14:m>
                <a:r>
                  <a:rPr lang="ko-KR" altLang="en-US" dirty="0"/>
                  <a:t>의 확률을 가진다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CD7E4F82-F4A7-A4FD-613E-45027AD204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E48A22A3-3652-CFFE-6A1D-89688CA65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860" y="3525253"/>
            <a:ext cx="3083562" cy="713928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18E35DD-CBF8-D067-9906-9CB9D41A8ACB}"/>
              </a:ext>
            </a:extLst>
          </p:cNvPr>
          <p:cNvSpPr/>
          <p:nvPr/>
        </p:nvSpPr>
        <p:spPr>
          <a:xfrm>
            <a:off x="160421" y="2292016"/>
            <a:ext cx="11871158" cy="23384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무작위 정수를 추출해 소수를 판별하는 루프는 평균적으로 대략 </a:t>
            </a:r>
            <a:r>
              <a:rPr lang="en-US" altLang="ko-KR" sz="2800" b="1" dirty="0"/>
              <a:t>700</a:t>
            </a:r>
            <a:r>
              <a:rPr lang="ko-KR" altLang="en-US" sz="2800" b="1" dirty="0"/>
              <a:t>번 이내의 반복만으로도 거대한 크기의 소수를 확정적으로 찾아낼 수 있다</a:t>
            </a:r>
            <a:r>
              <a:rPr lang="en-US" altLang="ko-KR" sz="2800" b="1" dirty="0"/>
              <a:t>.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6895556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315A9-4C0E-FADB-50A4-B18BCDFC5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C000D-BB7C-AE81-4B63-ED80A67A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DH key exchange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8E8308-2D68-7960-CA2A-07DA3F4C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BB8ECE91-E82A-7012-8782-75576DFF30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18F5824F-64CC-7D6B-A142-FBDC8ADE7A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Diffie-Hellman key exchange </a:t>
                </a:r>
                <a:r>
                  <a:rPr lang="ko-KR" altLang="en-US" sz="2400" dirty="0"/>
                  <a:t>안전하게 성립하기 위해서는</a:t>
                </a:r>
                <a:r>
                  <a:rPr lang="en-US" altLang="ko-KR" sz="2400" dirty="0"/>
                  <a:t>,</a:t>
                </a:r>
                <a:r>
                  <a:rPr lang="ko-KR" altLang="en-US" sz="2400" dirty="0"/>
                  <a:t> 도청자가 풀 수 없는 거대한 소수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2400" dirty="0"/>
                  <a:t>와 올바른 순환군의 생성자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ko-KR" altLang="en-US" sz="2400" dirty="0"/>
                  <a:t>가 파라미터로 주어져야 한다</a:t>
                </a:r>
                <a:r>
                  <a:rPr lang="en-US" altLang="ko-KR" sz="2400" dirty="0"/>
                  <a:t>.</a:t>
                </a:r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18F5824F-64CC-7D6B-A142-FBDC8ADE7A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24140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334C-A4D7-B2A6-FB66-5DC6B381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092E4-8274-A586-5863-B76E5E67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DH key exchange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E76CF4-3907-3D4C-C2F5-07267FB8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781B6D9C-6A24-39C6-52C5-EE36B3255B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22041551-16F6-501D-A9C2-2FF462EDC0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전제 조건</a:t>
                </a:r>
                <a:r>
                  <a:rPr lang="en-US" altLang="ko-KR" sz="2400" dirty="0"/>
                  <a:t>: </a:t>
                </a:r>
                <a:r>
                  <a:rPr lang="ko-KR" altLang="en-US" sz="2400" dirty="0"/>
                  <a:t>안전 소수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2400" dirty="0"/>
                  <a:t>와 검증된 생성자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ko-KR" altLang="en-US" sz="2400" dirty="0"/>
                  <a:t> 공개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22041551-16F6-501D-A9C2-2FF462EDC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877F5204-DBBE-C9FE-6607-09BA0F59A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993" y="2519523"/>
            <a:ext cx="8858013" cy="383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672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336C1-2905-D72B-D353-C4F0EFCF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43FFF-EB5D-2A51-F5A2-615E9951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DH key exchange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DABDA-A45A-3A30-056B-113F95C9E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5C9D6E25-88C9-2CFA-ED6C-D0163FF323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86AE639F-2B3E-AC99-3319-8D33FC3F66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결론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보안성 측면 </a:t>
                </a:r>
                <a:r>
                  <a:rPr lang="en-US" altLang="ko-KR" dirty="0"/>
                  <a:t>(</a:t>
                </a:r>
                <a:r>
                  <a:rPr lang="ko-KR" altLang="en-US" dirty="0" err="1"/>
                  <a:t>부분군</a:t>
                </a:r>
                <a:r>
                  <a:rPr lang="ko-KR" altLang="en-US" dirty="0"/>
                  <a:t> 공격 방어</a:t>
                </a:r>
                <a:r>
                  <a:rPr lang="en-US" altLang="ko-KR" dirty="0"/>
                  <a:t>): </a:t>
                </a:r>
                <a:r>
                  <a:rPr lang="ko-KR" altLang="en-US" dirty="0"/>
                  <a:t>만약 </a:t>
                </a:r>
                <a:r>
                  <a:rPr lang="en-US" altLang="ko-KR" dirty="0" err="1"/>
                  <a:t>Findprime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알고리즘이 안전 소수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2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엄선해 주지 않았다면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공격자가 </a:t>
                </a:r>
                <a:r>
                  <a:rPr lang="en-US" altLang="ko-KR" dirty="0"/>
                  <a:t>DH </a:t>
                </a:r>
                <a:r>
                  <a:rPr lang="ko-KR" altLang="en-US" dirty="0"/>
                  <a:t>교환 과정에서 소규모 부분군의 원소를 주입하여 </a:t>
                </a:r>
                <a:r>
                  <a:rPr lang="en-US" altLang="ko-KR" dirty="0"/>
                  <a:t>Alice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Bob</a:t>
                </a:r>
                <a:r>
                  <a:rPr lang="ko-KR" altLang="en-US" dirty="0"/>
                  <a:t>의 비밀 지수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/>
                  <a:t>가 </a:t>
                </a:r>
                <a:r>
                  <a:rPr lang="en-US" altLang="ko-KR" dirty="0"/>
                  <a:t>'</a:t>
                </a:r>
                <a:r>
                  <a:rPr lang="ko-KR" altLang="en-US" dirty="0" err="1"/>
                  <a:t>부분군</a:t>
                </a:r>
                <a:r>
                  <a:rPr lang="ko-KR" altLang="en-US" dirty="0"/>
                  <a:t> 공격</a:t>
                </a:r>
                <a:r>
                  <a:rPr lang="en-US" altLang="ko-KR" dirty="0"/>
                  <a:t>'</a:t>
                </a:r>
                <a:r>
                  <a:rPr lang="ko-KR" altLang="en-US" dirty="0"/>
                  <a:t>으로 프로토콜이 무력화되었을 것이다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86AE639F-2B3E-AC99-3319-8D33FC3F66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84302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15BE-540B-3860-7BE5-A684012A0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AE905-1B02-A1B9-E54F-19E6496C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DH key exchange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89B72A-F186-2E46-67AF-787559680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D3CD4F3B-F3AC-7333-6FA3-D75D5F7E04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56D67448-AF41-A0A1-0FAE-6AF1E3E15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결론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효율성 측면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생성자 고속 공급</a:t>
                </a:r>
                <a:r>
                  <a:rPr lang="en-US" altLang="ko-KR" dirty="0"/>
                  <a:t>): </a:t>
                </a:r>
                <a:r>
                  <a:rPr lang="ko-KR" altLang="en-US" dirty="0"/>
                  <a:t>프로토콜 가동을 위해 생성자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ko-KR" altLang="en-US" dirty="0"/>
                  <a:t>를 찾아야 할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안전 소수 구조 덕분에 </a:t>
                </a:r>
                <a:r>
                  <a:rPr lang="ko-KR" altLang="en-US" dirty="0" err="1"/>
                  <a:t>라그랑주</a:t>
                </a:r>
                <a:r>
                  <a:rPr lang="ko-KR" altLang="en-US" dirty="0"/>
                  <a:t> 정리를 활용한 </a:t>
                </a:r>
                <a:r>
                  <a:rPr lang="ko-KR" altLang="en-US" dirty="0" err="1"/>
                  <a:t>모듈러</a:t>
                </a:r>
                <a:r>
                  <a:rPr lang="ko-KR" altLang="en-US" dirty="0"/>
                  <a:t> 지수 연산 검증만으로 올바른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ko-KR" altLang="en-US" dirty="0"/>
                  <a:t>를 빠르게 공급할 수 있게 되었다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56D67448-AF41-A0A1-0FAE-6AF1E3E15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8215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E92E3-797E-E665-83AC-51970AE67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C3552F4-05A8-4BD9-DC38-58A16F5B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35574-11CC-A72B-1E73-EC0A0FD07F10}"/>
              </a:ext>
            </a:extLst>
          </p:cNvPr>
          <p:cNvSpPr txBox="1"/>
          <p:nvPr/>
        </p:nvSpPr>
        <p:spPr>
          <a:xfrm>
            <a:off x="838199" y="3248344"/>
            <a:ext cx="10515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dirty="0"/>
              <a:t>RSA math</a:t>
            </a:r>
            <a:endParaRPr lang="ar-AE" altLang="ko-KR" sz="400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D0166F9-6997-6A61-D3E8-9E4A0703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0963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39D71-A13D-DA79-F8C8-785D0558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D0E238-4507-2EB8-1F3D-0679CDA45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math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493782-E972-C3BD-4030-73483A23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BF9CD64B-D69D-BC54-86E4-024FB84ADC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F9990574-BA07-6EF8-5E49-1F4780A30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배경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이산 로그 기반 암호는 역산이 어려운 일방향성 함수에만 의존했다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RSA</a:t>
            </a:r>
            <a:r>
              <a:rPr lang="ko-KR" altLang="en-US" dirty="0"/>
              <a:t>는 구조를 아는 자</a:t>
            </a:r>
            <a:r>
              <a:rPr lang="en-US" altLang="ko-KR" dirty="0"/>
              <a:t>(</a:t>
            </a:r>
            <a:r>
              <a:rPr lang="ko-KR" altLang="en-US" dirty="0"/>
              <a:t>비밀키 소유자</a:t>
            </a:r>
            <a:r>
              <a:rPr lang="en-US" altLang="ko-KR" dirty="0"/>
              <a:t>)</a:t>
            </a:r>
            <a:r>
              <a:rPr lang="ko-KR" altLang="en-US" dirty="0"/>
              <a:t>만 통과할 수 있는 비밀 통로인 </a:t>
            </a:r>
            <a:r>
              <a:rPr lang="en-US" altLang="ko-KR" dirty="0"/>
              <a:t>Trapdoor</a:t>
            </a:r>
            <a:r>
              <a:rPr lang="ko-KR" altLang="en-US" dirty="0"/>
              <a:t>를 대수학적으로 설계하여 일방향성 치환을 구축한다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972631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0985-7C3C-29AA-EB68-D3ACDA5C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AA8C8-0164-481C-8332-81F418C3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math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E1DB3F-63CD-A8D5-F91F-29DED434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84924B81-0DB0-78EB-9314-D82AA9B2A7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EA5D6F62-1ADA-E72F-5B85-AA77C507DC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Euler's Phi Function,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ar-AE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ar-AE" altLang="ko-KR" sz="2400" dirty="0"/>
                  <a:t>:</a:t>
                </a:r>
                <a:endParaRPr lang="en-US" altLang="ko-KR" sz="2400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1</a:t>
                </a:r>
                <a:r>
                  <a:rPr lang="ko-KR" altLang="en-US" dirty="0"/>
                  <a:t>부터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dirty="0"/>
                  <a:t>까지의 정수 중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dirty="0"/>
                  <a:t>과 서로소인 정수의 개수를 나타내는 함수이다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RSA</a:t>
                </a:r>
                <a:r>
                  <a:rPr lang="ko-KR" altLang="en-US" dirty="0"/>
                  <a:t>는 두 개의 거대한 서로 다른 소수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dirty="0"/>
                  <a:t>와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dirty="0"/>
                  <a:t>를 택해 합성수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⋅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dirty="0"/>
                  <a:t>를 환경으로 삼는다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sz="1400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EA5D6F62-1ADA-E72F-5B85-AA77C507D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7557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BC828-C461-B6C2-4938-C6F631B5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A0689-0E63-1F73-2167-CD99ECC3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math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5441E3-EFF2-AD0E-855C-00F3AD8C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1F6B1ABC-8AE7-DB9D-E142-8AE0923201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1FC868B0-2030-8F32-C212-8E58122F0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Euler's Phi Function,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ar-AE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ko-KR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공격자에게 합성수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2400" dirty="0"/>
                  <a:t>이 노출되더라도</a:t>
                </a:r>
                <a:r>
                  <a:rPr lang="en-US" altLang="ko-KR" sz="2400" dirty="0"/>
                  <a:t>,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2400" dirty="0"/>
                  <a:t>을 구성하는 원래의 비밀 소수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sz="2400" dirty="0"/>
                  <a:t>를 모른다면 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ko-KR" altLang="en-US" sz="2400" dirty="0"/>
                  <a:t> 값을 계산하는 것은 대수적으로 불가능하다</a:t>
                </a:r>
                <a:r>
                  <a:rPr lang="en-US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2400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1FC868B0-2030-8F32-C212-8E58122F0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492A6197-9B4A-EE13-F7FB-31BB494C0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602" y="3276600"/>
            <a:ext cx="6612795" cy="69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874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8F67-118D-70EC-2B83-14D23E17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A590D-5C8B-D1E8-0581-C04E7477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math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39B7F4-1A6B-2859-6494-A69BAD92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EE10CD1C-8F57-156C-DF86-435F0DC18C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7B4F431D-B0A6-707B-1087-0E326F69FF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Modulo inverse: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m:rPr>
                        <m:nor/>
                      </m:rPr>
                      <a:rPr lang="ko-KR" altLang="en-US"/>
                      <m:t>과 서로소인 임의의 공개 지수</m:t>
                    </m:r>
                    <m:r>
                      <m:rPr>
                        <m:nor/>
                      </m:rPr>
                      <a:rPr lang="en-US" altLang="ko-KR"/>
                      <m:t>(</m:t>
                    </m:r>
                    <m:r>
                      <m:rPr>
                        <m:nor/>
                      </m:rPr>
                      <a:rPr lang="en-US" altLang="ko-KR"/>
                      <m:t>Public</m:t>
                    </m:r>
                    <m:r>
                      <m:rPr>
                        <m:nor/>
                      </m:rPr>
                      <a:rPr lang="en-US" altLang="ko-KR"/>
                      <m:t> </m:t>
                    </m:r>
                    <m:r>
                      <m:rPr>
                        <m:nor/>
                      </m:rPr>
                      <a:rPr lang="en-US" altLang="ko-KR"/>
                      <m:t>Exponent</m:t>
                    </m:r>
                    <m:r>
                      <m:rPr>
                        <m:nor/>
                      </m:rPr>
                      <a:rPr lang="en-US" altLang="ko-KR"/>
                      <m:t>)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ko-KR" altLang="en-US"/>
                      <m:t>를 선택한다</m:t>
                    </m:r>
                    <m:r>
                      <m:rPr>
                        <m:nor/>
                      </m:rPr>
                      <a:rPr lang="en-US" altLang="ko-KR" b="0" i="0" smtClean="0"/>
                      <m:t>.</m:t>
                    </m:r>
                  </m:oMath>
                </a14:m>
                <a:endParaRPr lang="en-US" altLang="ko-KR" b="0" dirty="0"/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7B4F431D-B0A6-707B-1087-0E326F69F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E2FED8B4-8139-C844-AB14-E328250DE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589" y="3584566"/>
            <a:ext cx="3716022" cy="86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952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F1436-3992-2B23-1212-0AD8FBEAD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14B10-842C-38F2-8BF4-F997670C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math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7388FA-D9AA-252E-B448-7DDF5007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576C1D05-A5C0-ADE4-C6EC-CA206B9BEC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65BB8717-0E51-B736-6681-9ED2A730A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Modulo inverse: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/>
                  <a:t>EXD-GCD</a:t>
                </a:r>
                <a:r>
                  <a:rPr lang="ko-KR" altLang="en-US" dirty="0"/>
                  <a:t>를 이용하면 다음 합동 관계를 만족하는 유일한 </a:t>
                </a:r>
                <a:r>
                  <a:rPr lang="en-US" altLang="ko-KR" dirty="0"/>
                  <a:t>Private Exponent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ko-KR" altLang="en-US" dirty="0"/>
                  <a:t>를 다항 시간 내에 찾아낼 수 있다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이때 임의의 메시지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/>
                  <a:t>에 대하여 다음 복원 공식이 항상 성립한다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65BB8717-0E51-B736-6681-9ED2A730A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812" r="-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F9D44395-070E-AAE7-2F8B-9621400C0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044" y="3910738"/>
            <a:ext cx="3843112" cy="56701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08411B1-F9C7-CAAB-8C1F-9A1E25C3B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8459" y="5593333"/>
            <a:ext cx="3815082" cy="76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608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A180F-24BB-DF73-EB41-D5C4FB1C7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47FE9-6116-2E2C-097D-B2ACEDFE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math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2A7755-7E27-D27D-0C76-D7875F19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2DAD2871-3434-E839-DFED-C60B157840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81373EBB-1605-0F91-5F1E-ACB4DA354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증명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≡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endChr m:val="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ko-KR" altLang="en-US">
                            <a:latin typeface="Cambria Math" panose="02040503050406030204" pitchFamily="18" charset="0"/>
                          </a:rPr>
                          <m:t>mod</m:t>
                        </m:r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/>
                  <a:t>므로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 altLang="ko-KR">
                        <a:latin typeface="Cambria Math" panose="02040503050406030204" pitchFamily="18" charset="0"/>
                      </a:rPr>
                      <m:t>⋅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ko-KR" alt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ko-KR" altLang="en-US"/>
                      <m:t>을 만족하는 정수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ko-KR" altLang="en-US"/>
                      <m:t>가 존재한다</m:t>
                    </m:r>
                    <m:r>
                      <m:rPr>
                        <m:nor/>
                      </m:rPr>
                      <a:rPr lang="en-US" altLang="ko-KR"/>
                      <m:t>.</m:t>
                    </m:r>
                  </m:oMath>
                </a14:m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따라서 지수 법칙과 </a:t>
                </a:r>
                <a:r>
                  <a:rPr lang="ko-KR" altLang="en-US" dirty="0" err="1"/>
                  <a:t>오일러</a:t>
                </a:r>
                <a:r>
                  <a:rPr lang="ko-KR" altLang="en-US" dirty="0"/>
                  <a:t> 정리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sup>
                    </m:sSup>
                    <m:r>
                      <a:rPr lang="ko-KR" altLang="en-US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에 의해 다음과 같이 증명된다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81373EBB-1605-0F91-5F1E-ACB4DA354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D045CA68-DA9E-13B9-EC61-4D5E181AA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30" y="5223502"/>
            <a:ext cx="10731540" cy="62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172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413F-09F7-AD96-0089-FDE5D11C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33B544-9F53-4FB6-744D-422B8B66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0B4DD-33D6-2BB7-6CE2-B3D7D96AE432}"/>
              </a:ext>
            </a:extLst>
          </p:cNvPr>
          <p:cNvSpPr txBox="1"/>
          <p:nvPr/>
        </p:nvSpPr>
        <p:spPr>
          <a:xfrm>
            <a:off x="838199" y="3248344"/>
            <a:ext cx="10515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dirty="0"/>
              <a:t>RSA function and Trapdoor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5486055-A705-62E1-D566-140319F9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0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822A1-6B23-27BE-A95E-32B7A5EF9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3D8CF-4E04-66DE-A3D3-A8921B76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function and Trapdoor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E1CEC-6CAE-818F-1448-8C2BF154E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5D6DAE5C-D0D9-6F2D-3013-D4E3C0FE01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EB47E0E4-040C-06FF-34CF-CA99AC12F4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845842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RSA </a:t>
                </a:r>
                <a:r>
                  <a:rPr lang="ko-KR" altLang="en-US" sz="2400" dirty="0"/>
                  <a:t>함수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 err="1"/>
                  <a:t>모듈러스</a:t>
                </a:r>
                <a:r>
                  <a:rPr lang="ko-KR" altLang="en-US" dirty="0"/>
                  <a:t>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dirty="0"/>
                  <a:t>과 암호화 지수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sub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/>
                  <a:t> 는 </a:t>
                </a:r>
                <a:r>
                  <a:rPr lang="en-US" altLang="ko-KR" dirty="0"/>
                  <a:t>RSA </a:t>
                </a:r>
                <a:r>
                  <a:rPr lang="ko-KR" altLang="en-US" dirty="0"/>
                  <a:t>함수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:</m:t>
                    </m:r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/>
                  <a:t> 를 다음과 같이 정의한다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EB47E0E4-040C-06FF-34CF-CA99AC12F4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845842" cy="4351338"/>
              </a:xfrm>
              <a:blipFill>
                <a:blip r:embed="rId2"/>
                <a:stretch>
                  <a:fillRect l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>
            <a:extLst>
              <a:ext uri="{FF2B5EF4-FFF2-40B4-BE49-F238E27FC236}">
                <a16:creationId xmlns:a16="http://schemas.microsoft.com/office/drawing/2014/main" id="{F1ED5EDF-A548-A7E6-CF21-85BBCF364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173" y="3760787"/>
            <a:ext cx="5881896" cy="62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970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97C7C-6D6E-287D-7596-3164E84E3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E8AD0-E431-6382-3C5F-90FAFE9A7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function and Trapdoor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83D81A-E479-1558-1100-D20378D89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2436C79E-9840-92BA-847F-F3305AE720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B27D243A-BC5D-725F-B0B0-F50134103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375233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RSA </a:t>
                </a:r>
                <a:r>
                  <a:rPr lang="ko-KR" altLang="en-US" sz="2400" dirty="0"/>
                  <a:t>함수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복호화 지수</a:t>
                </a:r>
                <a:r>
                  <a:rPr lang="en-US" altLang="ko-KR" dirty="0"/>
                  <a:t>(Decryption Exponent):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𝑒𝑑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mod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dirty="0"/>
                  <a:t> 을 만족하는 값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sub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/>
                  <a:t> 를 복호화 지수라고 부른다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치환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성질</a:t>
                </a:r>
                <a:r>
                  <a:rPr lang="en-US" altLang="ko-KR" dirty="0"/>
                  <a:t>: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ko-KR" altLang="en-US" dirty="0"/>
                  <a:t>는 군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/>
                  <a:t> 에서 자기 자신으로 </a:t>
                </a:r>
                <a:r>
                  <a:rPr lang="ko-KR" altLang="en-US" dirty="0" err="1"/>
                  <a:t>매핑되는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1:1 </a:t>
                </a:r>
                <a:r>
                  <a:rPr lang="ko-KR" altLang="en-US" dirty="0"/>
                  <a:t>대응 함수이다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서로 다른 </a:t>
                </a:r>
                <a:r>
                  <a:rPr lang="ko-KR" altLang="en-US" dirty="0" err="1"/>
                  <a:t>평문은</a:t>
                </a:r>
                <a:r>
                  <a:rPr lang="ko-KR" altLang="en-US" dirty="0"/>
                  <a:t> 반드시 서로 다른 결과값으로 </a:t>
                </a:r>
                <a:r>
                  <a:rPr lang="ko-KR" altLang="en-US" dirty="0" err="1"/>
                  <a:t>매핑된다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B27D243A-BC5D-725F-B0B0-F50134103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375233" cy="4351338"/>
              </a:xfrm>
              <a:blipFill>
                <a:blip r:embed="rId2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3419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8486-6896-DF0F-69D4-071BB8DEE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FBFA9-DC09-55F7-EE3D-4FD8D10E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function and Trapdoor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92A029-113C-38F0-580D-412E1E43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CE7BA470-FACE-D601-06D2-8B08518786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5355E15F-8440-F986-7F3A-894BEBE46C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12117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Trapdoor One-</a:t>
                </a:r>
                <a:r>
                  <a:rPr lang="en-US" altLang="ko-KR" sz="2400" dirty="0" err="1"/>
                  <a:t>wayness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순방향 연산</a:t>
                </a:r>
                <a:r>
                  <a:rPr lang="en-US" altLang="ko-KR" dirty="0"/>
                  <a:t>: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dirty="0"/>
                  <a:t>,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가 주어지면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고속 거듭제곱 알고리즘을 통해 누구나 다항 시간 내에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mod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dirty="0"/>
                  <a:t> 을 쉽게 계산할 수 있다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역방향 연산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오직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dirty="0"/>
                  <a:t>,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와 결과값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dirty="0"/>
                  <a:t>만 알고 있는 공격자가 원래의 </a:t>
                </a:r>
                <a:r>
                  <a:rPr lang="ko-KR" altLang="en-US" dirty="0" err="1"/>
                  <a:t>입력값</a:t>
                </a:r>
                <a:r>
                  <a:rPr lang="ko-KR" altLang="en-US" dirty="0"/>
                  <a:t>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/>
                  <a:t>를 역산하는 것은 일방향성에 의해 현실적인 시간 내에 불가능하다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5355E15F-8440-F986-7F3A-894BEBE46C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12117" cy="4351338"/>
              </a:xfrm>
              <a:blipFill>
                <a:blip r:embed="rId2"/>
                <a:stretch>
                  <a:fillRect l="-739" r="-3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35474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D91FA-6AD2-5C7C-D671-3A6DA6F7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E5875-52EF-3FE5-E691-41039605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function and Trapdoor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76CD1-434B-6A74-B010-CA26AC7D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65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C03CA337-5AE7-E8F3-7AFA-B9CB699CDC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4D9C6112-7140-552E-EF5D-0F57B70CF9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Trapdoor One-</a:t>
                </a:r>
                <a:r>
                  <a:rPr lang="en-US" altLang="ko-KR" sz="2400" dirty="0" err="1"/>
                  <a:t>wayness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하지만 비밀 정보인 복호화 지수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ko-KR" altLang="en-US" dirty="0"/>
                  <a:t>라는 </a:t>
                </a:r>
                <a:r>
                  <a:rPr lang="en-US" altLang="ko-KR" dirty="0"/>
                  <a:t>Trapdoor </a:t>
                </a:r>
                <a:r>
                  <a:rPr lang="ko-KR" altLang="en-US" dirty="0"/>
                  <a:t>쥐고 있다면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다음과 같이 단 한 번의 지수 연산으로 역함수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dirty="0"/>
                  <a:t>를 순식간에 계산해 낼 수 있다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4D9C6112-7140-552E-EF5D-0F57B70CF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5E902304-7A70-2A74-BE3F-1CFEF782A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887" y="4437402"/>
            <a:ext cx="6256226" cy="59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077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47EA4-DD67-D1C4-9E44-C493205F2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D20CA-4130-41DE-5D1D-944B59F6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function and Trapdoor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BDBD8-898F-BF62-F32E-C9BF0285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66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F3D5DBE5-04D4-2F2D-4417-1404549B09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26D9979B-8C4B-5A71-3B53-4CA2242D9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Ex: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25CA01-F0B6-3897-5259-970A0D41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324" y="2738755"/>
            <a:ext cx="9859476" cy="22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833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E534-B81E-08F1-0D18-1DC7FFFD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4BC54-B184-06B0-4E70-C6ACFA5D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function and Trapdoor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E7D6FA-7D59-7EFB-B377-C65BBF67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67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0270177B-70FC-F61E-1EB7-F7A678636F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9F63BA12-CC03-BF66-3B49-406CD11927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7"/>
                <a:ext cx="10515600" cy="480218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Key Generation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ko-KR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⋅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ko-KR" altLang="en-US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ko-KR" altLang="en-US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/>
                  <a:t>의 원소 중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gcd</m:t>
                    </m:r>
                    <m:d>
                      <m:dPr>
                        <m:sepChr m:val=",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dirty="0"/>
                  <a:t>을 만족하는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ko-KR" altLang="en-US" dirty="0"/>
                  <a:t> 채택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3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⋅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ko-KR" altLang="en-US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만족하는 원소를 역산하면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ko-KR" altLang="en-US" dirty="0"/>
                  <a:t> 도출</a:t>
                </a:r>
                <a:r>
                  <a:rPr lang="en-US" altLang="ko-KR" dirty="0"/>
                  <a:t>. 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ko-KR" dirty="0"/>
                  <a:t>  (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∵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ko-KR" dirty="0"/>
                  <a:t>)</a:t>
                </a:r>
              </a:p>
              <a:p>
                <a:pPr lvl="1">
                  <a:lnSpc>
                    <a:spcPct val="150000"/>
                  </a:lnSpc>
                </a:pPr>
                <a:endParaRPr lang="ko-KR" altLang="en-US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9F63BA12-CC03-BF66-3B49-406CD11927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7"/>
                <a:ext cx="10515600" cy="4802187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7115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C3FD-2887-6D43-72DF-0879F49B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98656-4CAD-65E8-E91F-9631CB22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function and Trapdoor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8707B4-2D5A-9E16-8D2E-EAFA8147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68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4E51E208-B4F0-88E6-1EE4-154061AD12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53788325-BA1A-F3A3-A6A1-FC2203106C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7"/>
                <a:ext cx="10515600" cy="480218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유한 </a:t>
                </a:r>
                <a:r>
                  <a:rPr lang="ko-KR" altLang="en-US" sz="2400" dirty="0" err="1"/>
                  <a:t>곱셈군</a:t>
                </a:r>
                <a:r>
                  <a:rPr lang="ko-KR" altLang="en-US" sz="2400" dirty="0"/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  <m:sup>
                        <m:r>
                          <a:rPr lang="ko-KR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2400" dirty="0"/>
                  <a:t> 정의</a:t>
                </a:r>
                <a:r>
                  <a:rPr lang="en-US" altLang="ko-KR" sz="2400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  <m:sup>
                        <m:r>
                          <a:rPr lang="ko-KR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d>
                  </m:oMath>
                </a14:m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RSA </a:t>
                </a:r>
                <a:r>
                  <a:rPr lang="ko-KR" altLang="en-US" sz="2400" dirty="0"/>
                  <a:t>치환 매핑 검증</a:t>
                </a:r>
                <a:endParaRPr lang="en-US" altLang="ko-KR" sz="2400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군의 모든 원소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/>
                  <a:t>에 대해 암호화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와 복호화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수행하면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다음과 같이 </a:t>
                </a:r>
                <a:r>
                  <a:rPr lang="en-US" altLang="ko-KR" dirty="0"/>
                  <a:t>1:1 </a:t>
                </a:r>
                <a:r>
                  <a:rPr lang="ko-KR" altLang="en-US" dirty="0"/>
                  <a:t>대칭 치환 구조가 성립한다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ko-KR" altLang="en-US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53788325-BA1A-F3A3-A6A1-FC2203106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7"/>
                <a:ext cx="10515600" cy="4802187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6189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F101-3511-071C-0869-55B6CB7D4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C2A2C-710E-A407-6FF5-026DC173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function and Trapdoor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ECB862-8E00-9D69-955C-6427ABAE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69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8EE3F438-2096-AA58-47AA-19E69E6E91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71EBD998-38E2-72F9-1F96-0824662C01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7"/>
                <a:ext cx="10515601" cy="480218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RSA </a:t>
                </a:r>
                <a:r>
                  <a:rPr lang="ko-KR" altLang="en-US" sz="2400" dirty="0"/>
                  <a:t>치환 매핑 검증</a:t>
                </a:r>
                <a:endParaRPr lang="en-US" altLang="ko-KR" sz="2400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군의 모든 원소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/>
                  <a:t>에 대해 암호화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와 복호화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수행하면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다음과 같이 </a:t>
                </a:r>
                <a:r>
                  <a:rPr lang="en-US" altLang="ko-KR" dirty="0"/>
                  <a:t>1:1 </a:t>
                </a:r>
                <a:r>
                  <a:rPr lang="ko-KR" altLang="en-US" dirty="0"/>
                  <a:t>대칭 치환 구조가 성립한다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ko-KR" altLang="en-US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71EBD998-38E2-72F9-1F96-0824662C01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7"/>
                <a:ext cx="10515601" cy="4802187"/>
              </a:xfrm>
              <a:blipFill>
                <a:blip r:embed="rId3"/>
                <a:stretch>
                  <a:fillRect l="-7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25709042-B2AD-1533-03A7-EF4989604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3504569"/>
            <a:ext cx="2743201" cy="332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853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6442C-5EC1-9965-84EC-AF6B7EF43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5F4B2-6AD8-F9E6-5D1B-307FCFA35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RSA function and Trapdoor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850DC-0AB9-B186-1A74-92F6F27A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70</a:t>
            </a:fld>
            <a:endParaRPr lang="ko-KR" altLang="en-US"/>
          </a:p>
        </p:txBody>
      </p:sp>
      <p:sp>
        <p:nvSpPr>
          <p:cNvPr id="5" name="AutoShape 2" descr="image">
            <a:extLst>
              <a:ext uri="{FF2B5EF4-FFF2-40B4-BE49-F238E27FC236}">
                <a16:creationId xmlns:a16="http://schemas.microsoft.com/office/drawing/2014/main" id="{DAAD2035-754B-1A7F-9B48-148AA34207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CC8B9B2C-CFFB-C4C2-64B3-D07236BDBA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7"/>
                <a:ext cx="10515601" cy="480218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400" dirty="0"/>
                  <a:t>결론</a:t>
                </a:r>
                <a:r>
                  <a:rPr lang="en-US" altLang="ko-KR" sz="2400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 err="1"/>
                  <a:t>평문</a:t>
                </a:r>
                <a:r>
                  <a:rPr lang="ko-KR" altLang="en-US" dirty="0"/>
                  <a:t>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ko-KR" altLang="en-US" dirty="0"/>
                  <a:t>는 순방향 함수에 의해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ko-KR" altLang="en-US" dirty="0"/>
                  <a:t>로 치환되고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복호화 지수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ko-KR" altLang="en-US" dirty="0"/>
                  <a:t>을 이용해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ko-KR" altLang="en-US" dirty="0"/>
                  <a:t>로 깔끔하게 복원된다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 err="1"/>
                  <a:t>평문</a:t>
                </a:r>
                <a:r>
                  <a:rPr lang="ko-KR" altLang="en-US" dirty="0"/>
                  <a:t>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ko-KR" altLang="en-US" dirty="0"/>
                  <a:t>은 순방향 함수에 의해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ko-KR" altLang="en-US" dirty="0"/>
                  <a:t>으로 치환되고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복호화 지수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ko-KR" altLang="en-US" dirty="0"/>
                  <a:t>을 이용해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ko-KR" altLang="en-US" dirty="0"/>
                  <a:t>로 복원된다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/>
                  <a:t>비밀 지수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ko-KR" altLang="en-US" dirty="0"/>
                  <a:t>를 모르는 공격자에게는 임의의 원소들이 무작위로 섞인 순열 테이블처럼 보이지만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이를 알고 있는 수신자는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mod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dirty="0"/>
                  <a:t> 연산만으로 원래의 평문으로 귀환할 수 있음을 보여준다</a:t>
                </a:r>
                <a:r>
                  <a:rPr lang="en-US" altLang="ko-KR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ko-KR" altLang="en-US" dirty="0"/>
              </a:p>
              <a:p>
                <a:pPr lvl="1">
                  <a:lnSpc>
                    <a:spcPct val="150000"/>
                  </a:lnSpc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CC8B9B2C-CFFB-C4C2-64B3-D07236BDBA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7"/>
                <a:ext cx="10515601" cy="4802187"/>
              </a:xfrm>
              <a:blipFill>
                <a:blip r:embed="rId3"/>
                <a:stretch>
                  <a:fillRect l="-7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71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2572</Words>
  <Application>Microsoft Office PowerPoint</Application>
  <PresentationFormat>와이드스크린</PresentationFormat>
  <Paragraphs>342</Paragraphs>
  <Slides>70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4" baseType="lpstr">
      <vt:lpstr>맑은 고딕</vt:lpstr>
      <vt:lpstr>Arial</vt:lpstr>
      <vt:lpstr>Cambria Math</vt:lpstr>
      <vt:lpstr>Office 테마</vt:lpstr>
      <vt:lpstr>Modern Cryptography</vt:lpstr>
      <vt:lpstr>Discrete logarithms and RSA</vt:lpstr>
      <vt:lpstr>Discrete Logarithms</vt:lpstr>
      <vt:lpstr>Discrete Logarithms</vt:lpstr>
      <vt:lpstr>Discrete Logarithms</vt:lpstr>
      <vt:lpstr>Discrete Logarithms</vt:lpstr>
      <vt:lpstr>Mathematical Definition of DLP</vt:lpstr>
      <vt:lpstr>Mathematical Definition of DLP</vt:lpstr>
      <vt:lpstr>Mathematical Definition of DLP</vt:lpstr>
      <vt:lpstr>Mathematical Definition of DLP</vt:lpstr>
      <vt:lpstr>Mathematical Definition of DLP</vt:lpstr>
      <vt:lpstr>Mathematical Definition of DLP</vt:lpstr>
      <vt:lpstr>Mathematical Definition of DLP</vt:lpstr>
      <vt:lpstr>Mathematical Definition of DLP</vt:lpstr>
      <vt:lpstr>Mathematical Definition of DLP</vt:lpstr>
      <vt:lpstr>Discrete Logarithms</vt:lpstr>
      <vt:lpstr>Computing DLog: Z_p^∗ vs EC_p</vt:lpstr>
      <vt:lpstr>Computing DLog: Z_p^∗ vs EC_p</vt:lpstr>
      <vt:lpstr>Computing DLog: Z_p^∗ vs EC_p</vt:lpstr>
      <vt:lpstr>Computing DLog: Z_p^∗ vs EC_p</vt:lpstr>
      <vt:lpstr>Discrete Logarithms</vt:lpstr>
      <vt:lpstr>Why EC Groups &amp; Moore’s Law</vt:lpstr>
      <vt:lpstr>Why EC Groups &amp; Moore’s Law</vt:lpstr>
      <vt:lpstr>Why EC Groups &amp; Moore’s Law</vt:lpstr>
      <vt:lpstr>PowerPoint 프레젠테이션</vt:lpstr>
      <vt:lpstr>DL Game</vt:lpstr>
      <vt:lpstr>DL Game</vt:lpstr>
      <vt:lpstr>DL Game</vt:lpstr>
      <vt:lpstr>CDH Problem &amp; Relationship to DL</vt:lpstr>
      <vt:lpstr>CDH Problem &amp; Relationship to DL</vt:lpstr>
      <vt:lpstr>CDH Game</vt:lpstr>
      <vt:lpstr>CDH Game</vt:lpstr>
      <vt:lpstr>PowerPoint 프레젠테이션</vt:lpstr>
      <vt:lpstr>Finding Cyclic Groups</vt:lpstr>
      <vt:lpstr>Finding Cyclic Groups</vt:lpstr>
      <vt:lpstr>Finding Cyclic Groups</vt:lpstr>
      <vt:lpstr>Finding Cyclic Groups</vt:lpstr>
      <vt:lpstr>Finding Cyclic Groups</vt:lpstr>
      <vt:lpstr>Finding Cyclic Groups</vt:lpstr>
      <vt:lpstr>Finding Cyclic Groups</vt:lpstr>
      <vt:lpstr>Finding Cyclic Groups</vt:lpstr>
      <vt:lpstr>Finding Cyclic Groups</vt:lpstr>
      <vt:lpstr>Finding Cyclic Groups</vt:lpstr>
      <vt:lpstr>Primality testing</vt:lpstr>
      <vt:lpstr>Primality testing</vt:lpstr>
      <vt:lpstr>Finding Cyclic Groups</vt:lpstr>
      <vt:lpstr>Density of primes</vt:lpstr>
      <vt:lpstr>Density of primes</vt:lpstr>
      <vt:lpstr>Density of primes</vt:lpstr>
      <vt:lpstr>DH key exchange</vt:lpstr>
      <vt:lpstr>DH key exchange</vt:lpstr>
      <vt:lpstr>DH key exchange</vt:lpstr>
      <vt:lpstr>DH key exchange</vt:lpstr>
      <vt:lpstr>RSA</vt:lpstr>
      <vt:lpstr>RSA math</vt:lpstr>
      <vt:lpstr>RSA math</vt:lpstr>
      <vt:lpstr>RSA math</vt:lpstr>
      <vt:lpstr>RSA math</vt:lpstr>
      <vt:lpstr>RSA math</vt:lpstr>
      <vt:lpstr>RSA math</vt:lpstr>
      <vt:lpstr>RSA</vt:lpstr>
      <vt:lpstr>RSA function and Trapdoor</vt:lpstr>
      <vt:lpstr>RSA function and Trapdoor</vt:lpstr>
      <vt:lpstr>RSA function and Trapdoor</vt:lpstr>
      <vt:lpstr>RSA function and Trapdoor</vt:lpstr>
      <vt:lpstr>RSA function and Trapdoor</vt:lpstr>
      <vt:lpstr>RSA function and Trapdoor</vt:lpstr>
      <vt:lpstr>RSA function and Trapdoor</vt:lpstr>
      <vt:lpstr>RSA function and Trapdoor</vt:lpstr>
      <vt:lpstr>RSA function and Trapdoor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173</cp:revision>
  <dcterms:created xsi:type="dcterms:W3CDTF">2026-03-17T05:07:50Z</dcterms:created>
  <dcterms:modified xsi:type="dcterms:W3CDTF">2026-05-21T06:00:09Z</dcterms:modified>
</cp:coreProperties>
</file>